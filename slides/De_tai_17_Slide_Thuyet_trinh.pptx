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97280"/>
            <a:ext cx="10058400" cy="4572000"/>
          </a:xfrm>
          <a:prstGeom prst="rect">
            <a:avLst/>
          </a:prstGeom>
          <a:noFill/>
        </p:spPr>
        <p:txBody>
          <a:bodyPr wrap="square">
            <a:spAutoFit/>
          </a:bodyPr>
          <a:lstStyle/>
          <a:p>
            <a:pPr>
              <a:defRPr sz="1400" b="1">
                <a:solidFill>
                  <a:srgbClr val="93C5FD"/>
                </a:solidFill>
              </a:defRPr>
            </a:pPr>
            <a:r>
              <a:t>BÁO CÁO ĐỒ ÁN MÔN HỌC — CƠ SỞ DỮ LIỆU NÂNG CAO</a:t>
            </a:r>
          </a:p>
          <a:p>
            <a:pPr>
              <a:defRPr sz="3000" b="1">
                <a:solidFill>
                  <a:srgbClr val="FFFFFF"/>
                </a:solidFill>
              </a:defRPr>
            </a:pPr>
            <a:r>
              <a:t>DỮ LIỆU PHÂN CẤP VÀ ĐỒ THỊ TRONG CSDL QUAN HỆ</a:t>
            </a:r>
          </a:p>
          <a:p>
            <a:pPr>
              <a:defRPr sz="2000">
                <a:solidFill>
                  <a:srgbClr val="E2E8F0"/>
                </a:solidFill>
              </a:defRPr>
            </a:pPr>
            <a:r>
              <a:t>Ứng dụng Mạng Xã Hội Học Tập  |  Đề tài số 17</a:t>
            </a:r>
          </a:p>
          <a:p>
            <a:br/>
            <a:pPr>
              <a:defRPr sz="1400">
                <a:solidFill>
                  <a:srgbClr val="CBD5E1"/>
                </a:solidFill>
              </a:defRPr>
            </a:pPr>
            <a:r>
              <a:t>• Giảng viên hướng dẫn: Bộ môn Hệ thống Thông tin — Khoa CNTT, ĐH Sài Gòn</a:t>
            </a:r>
          </a:p>
          <a:p>
            <a:pPr>
              <a:defRPr sz="1350">
                <a:solidFill>
                  <a:srgbClr val="F1F5F9"/>
                </a:solidFill>
              </a:defRPr>
            </a:pPr>
            <a:r>
              <a:t>• Nhóm sinh viên thực hiện (5 thành viên):</a:t>
            </a:r>
            <a:br/>
            <a:r>
              <a:t>   1. Trần Quang (Leader - 3124410292)  |  2. Thanh Hưng (TV2 - Cây &amp; OOP)</a:t>
            </a:r>
            <a:br/>
            <a:r>
              <a:t>   3. Quang Hữu (TV3 - SQL &amp; Đệ quy)    |  4. Chương Võ (TV4 - Neo4j &amp; Deadlock)</a:t>
            </a:r>
            <a:br/>
            <a:r>
              <a:t>   5. Như Quỳnh (TV5 - Benchmark 3124410298)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1 — TRẦN QUANG (LEADER)</a:t>
            </a:r>
          </a:p>
          <a:p>
            <a:pPr>
              <a:defRPr sz="2200" b="1">
                <a:solidFill>
                  <a:srgbClr val="0F172A"/>
                </a:solidFill>
              </a:defRPr>
            </a:pPr>
            <a:r>
              <a:t>Đặt Vấn Đề &amp; 3 Câu Hỏi Nghiên Cứu Cốt Lõi</a:t>
            </a:r>
          </a:p>
          <a:p>
            <a:pPr>
              <a:defRPr sz="1300">
                <a:solidFill>
                  <a:srgbClr val="64748B"/>
                </a:solidFill>
              </a:defRPr>
            </a:pPr>
            <a:r>
              <a:t>Mạng xã hội học tập phát sinh dữ liệu phân cấp sâu và mạng lưới đồ thị phức tạp</a:t>
            </a:r>
          </a:p>
        </p:txBody>
      </p:sp>
      <p:sp>
        <p:nvSpPr>
          <p:cNvPr id="3" name="Rounded Rectangle 2"/>
          <p:cNvSpPr/>
          <p:nvPr/>
        </p:nvSpPr>
        <p:spPr>
          <a:xfrm>
            <a:off x="731520" y="1645920"/>
            <a:ext cx="3383280" cy="43891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1400" b="1">
                <a:solidFill>
                  <a:srgbClr val="2563EB"/>
                </a:solidFill>
              </a:defRPr>
            </a:pPr>
            <a:r>
              <a:t>CÂU HỎI 1: MÔ HÌNH CÂY</a:t>
            </a:r>
          </a:p>
          <a:p>
            <a:br/>
            <a:pPr>
              <a:defRPr sz="1250">
                <a:solidFill>
                  <a:srgbClr val="1E293B"/>
                </a:solidFill>
              </a:defRPr>
            </a:pPr>
            <a:r>
              <a:t>Trong 4 mô hình (Adjacency, ltree, Nested Set, Closure Table), giải pháp nào tối ưu nhất cho từng thao tác (đọc cây con, tổ tiên, chèn, dời cành)? Chi phí đánh đổi về đĩa và tốc độ ghi ra sao?</a:t>
            </a:r>
          </a:p>
        </p:txBody>
      </p:sp>
      <p:sp>
        <p:nvSpPr>
          <p:cNvPr id="4" name="Rounded Rectangle 3"/>
          <p:cNvSpPr/>
          <p:nvPr/>
        </p:nvSpPr>
        <p:spPr>
          <a:xfrm>
            <a:off x="4297680" y="1645920"/>
            <a:ext cx="3383280" cy="438912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1400" b="1">
                <a:solidFill>
                  <a:srgbClr val="10B981"/>
                </a:solidFill>
              </a:defRPr>
            </a:pPr>
            <a:r>
              <a:t>CÂU HỎI 2: ĐỒ THỊ &amp; WITH RECURSIVE</a:t>
            </a:r>
          </a:p>
          <a:p>
            <a:br/>
            <a:pPr>
              <a:defRPr sz="1250">
                <a:solidFill>
                  <a:srgbClr val="1E293B"/>
                </a:solidFill>
              </a:defRPr>
            </a:pPr>
            <a:r>
              <a:t>SQL đệ quy trên CSDL quan hệ đáp ứng các bài toán mạng xã hội (FoF, BFS đường ngắn nhất, chu trình) đến giới hạn nào? Khi nào cần chuyển đổi sang CSDL đồ thị chuyên dụng Neo4j?</a:t>
            </a:r>
          </a:p>
        </p:txBody>
      </p:sp>
      <p:sp>
        <p:nvSpPr>
          <p:cNvPr id="5" name="Rounded Rectangle 4"/>
          <p:cNvSpPr/>
          <p:nvPr/>
        </p:nvSpPr>
        <p:spPr>
          <a:xfrm>
            <a:off x="7863840" y="1645920"/>
            <a:ext cx="3383280" cy="4389120"/>
          </a:xfrm>
          <a:prstGeom prst="round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1400" b="1">
                <a:solidFill>
                  <a:srgbClr val="F59E0B"/>
                </a:solidFill>
              </a:defRPr>
            </a:pPr>
            <a:r>
              <a:t>CÂU HỎI 3: OOP, IMPEDANCE &amp; TRANSACTION</a:t>
            </a:r>
          </a:p>
          <a:p>
            <a:br/>
            <a:pPr>
              <a:defRPr sz="1250">
                <a:solidFill>
                  <a:srgbClr val="1E293B"/>
                </a:solidFill>
              </a:defRPr>
            </a:pPr>
            <a:r>
              <a:t>Mô hình đối tượng ODL/OQL giải quyết bài toán Lệch pha trở kháng ra sao? Cơ chế cô lập giao dịch và kiểm soát bế tắc (Deadlock) vận hành thế nào dưới tải đồng thời cao?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1 — TRẦN QUANG (LEADER)</a:t>
            </a:r>
          </a:p>
          <a:p>
            <a:pPr>
              <a:defRPr sz="2200" b="1">
                <a:solidFill>
                  <a:srgbClr val="0F172A"/>
                </a:solidFill>
              </a:defRPr>
            </a:pPr>
            <a:r>
              <a:t>Đặc Tả 10 Quy Tắc Nghiệp Vụ (BR1–BR10) &amp; Mô Hình EER</a:t>
            </a:r>
          </a:p>
          <a:p>
            <a:pPr>
              <a:defRPr sz="1300">
                <a:solidFill>
                  <a:srgbClr val="64748B"/>
                </a:solidFill>
              </a:defRPr>
            </a:pPr>
            <a:r>
              <a:t>Mô hình hóa chính xác ngữ nghĩa thế giới thực bằng hệ thống ràng buộc toàn vẹn</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BR1 (Email duy nhất): UNIQUE(email) + Regex CHECK trên bảng users.</a:t>
            </a:r>
          </a:p>
          <a:p>
            <a:pPr>
              <a:defRPr sz="1300">
                <a:solidFill>
                  <a:srgbClr val="1E293B"/>
                </a:solidFill>
              </a:defRPr>
            </a:pPr>
            <a:r>
              <a:t>• BR2 (Bạn bè hai chiều vô hướng): Quy ước user_a &lt; user_b; View logic friend_edge dùng UNION ALL hỗ trợ duyệt đồ thị.</a:t>
            </a:r>
          </a:p>
          <a:p>
            <a:pPr>
              <a:defRPr sz="1300">
                <a:solidFill>
                  <a:srgbClr val="1E293B"/>
                </a:solidFill>
              </a:defRPr>
            </a:pPr>
            <a:r>
              <a:t>• BR3 (Theo dõi một chiều có hướng): PRIMARY KEY (follower_id, followee_id), CHECK (follower &lt;&gt; followee).</a:t>
            </a:r>
          </a:p>
          <a:p>
            <a:pPr>
              <a:defRPr sz="1300">
                <a:solidFill>
                  <a:srgbClr val="1E293B"/>
                </a:solidFill>
              </a:defRPr>
            </a:pPr>
            <a:r>
              <a:t>• BR4 (Chủ nhóm &amp; Quyền hạn): Chủ nhóm bắt buộc là thành viên; vai trò role IN ('owner', 'mod', 'member').</a:t>
            </a:r>
          </a:p>
          <a:p>
            <a:pPr>
              <a:defRPr sz="1300">
                <a:solidFill>
                  <a:srgbClr val="1E293B"/>
                </a:solidFill>
              </a:defRPr>
            </a:pPr>
            <a:r>
              <a:t>• BR5 (Quyền đăng bài): Chỉ thành viên chính thức mới được đăng bài vào nhóm học tập.</a:t>
            </a:r>
          </a:p>
          <a:p>
            <a:pPr>
              <a:defRPr sz="1300">
                <a:solidFill>
                  <a:srgbClr val="1E293B"/>
                </a:solidFill>
              </a:defRPr>
            </a:pPr>
            <a:r>
              <a:t>• BR6 (Toàn vẹn cây bình luận): Bình luận con bắt buộc cùng bài viết với bình luận cha; chặn chu trình cha-con.</a:t>
            </a:r>
          </a:p>
          <a:p>
            <a:pPr>
              <a:defRPr sz="1300">
                <a:solidFill>
                  <a:srgbClr val="1E293B"/>
                </a:solidFill>
              </a:defRPr>
            </a:pPr>
            <a:r>
              <a:t>• BR7 (Chuyên biệt hóa bài viết): Single Table Inheritance (post_thaoluan vs post_tailieu) — Rời nhau (d), Toàn phần (Total).</a:t>
            </a:r>
          </a:p>
          <a:p>
            <a:pPr>
              <a:defRPr sz="1300">
                <a:solidFill>
                  <a:srgbClr val="1E293B"/>
                </a:solidFill>
              </a:defRPr>
            </a:pPr>
            <a:r>
              <a:t>• BR8 (Cảm xúc duy nhất): PRIMARY KEY (post_id, user_id) trên bảng post_reaction.</a:t>
            </a:r>
          </a:p>
          <a:p>
            <a:pPr>
              <a:defRPr sz="1300">
                <a:solidFill>
                  <a:srgbClr val="1E293B"/>
                </a:solidFill>
              </a:defRPr>
            </a:pPr>
            <a:r>
              <a:t>• BR9 (Đồng bộ bộ đếm bạn bè): friend_count cập nhật nguyên tử trong cùng transaction kết bạn.</a:t>
            </a:r>
          </a:p>
          <a:p>
            <a:pPr>
              <a:defRPr sz="1300">
                <a:solidFill>
                  <a:srgbClr val="1E293B"/>
                </a:solidFill>
              </a:defRPr>
            </a:pPr>
            <a:r>
              <a:t>• BR10 (Bảo mật nhóm riêng tư): Quản lý quyền truy cập bài viết nhóm kín qua Row-Level Security.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1 — TRẦN QUANG (LEADER)</a:t>
            </a:r>
          </a:p>
          <a:p>
            <a:pPr>
              <a:defRPr sz="2200" b="1">
                <a:solidFill>
                  <a:srgbClr val="0F172A"/>
                </a:solidFill>
              </a:defRPr>
            </a:pPr>
            <a:r>
              <a:t>Lý Thuyết Phụ Thuộc Hàm, Chuẩn Hóa BCNF &amp; Phân Rã 4NF</a:t>
            </a:r>
          </a:p>
          <a:p>
            <a:pPr>
              <a:defRPr sz="1300">
                <a:solidFill>
                  <a:srgbClr val="64748B"/>
                </a:solidFill>
              </a:defRPr>
            </a:pPr>
            <a:r>
              <a:t>Chứng minh hình thức Lossless Join qua bảng ma trận Chase và phân rã triệt tiêu MVD</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Lược đồ tổng hợp phẳng R vi phạm nghiêm trọng 3NF do các phụ thuộc bắc cầu qua thuộc tính không khóa:</a:t>
            </a:r>
          </a:p>
          <a:p>
            <a:pPr>
              <a:defRPr sz="1300">
                <a:solidFill>
                  <a:srgbClr val="1E293B"/>
                </a:solidFill>
              </a:defRPr>
            </a:pPr>
            <a:r>
              <a:t>   comment_id -&gt; post_id -&gt; group_id -&gt; group_name  và  comment_id -&gt; author_id -&gt; author_name</a:t>
            </a:r>
          </a:p>
          <a:p>
            <a:pPr>
              <a:defRPr sz="1300">
                <a:solidFill>
                  <a:srgbClr val="1E293B"/>
                </a:solidFill>
              </a:defRPr>
            </a:pPr>
          </a:p>
          <a:p>
            <a:pPr>
              <a:defRPr sz="1300">
                <a:solidFill>
                  <a:srgbClr val="1E293B"/>
                </a:solidFill>
              </a:defRPr>
            </a:pPr>
            <a:r>
              <a:t>• Phân rã theo thuật toán tổng hợp Bernstein thành 4 quan hệ con:</a:t>
            </a:r>
          </a:p>
          <a:p>
            <a:pPr>
              <a:defRPr sz="1300">
                <a:solidFill>
                  <a:srgbClr val="1E293B"/>
                </a:solidFill>
              </a:defRPr>
            </a:pPr>
            <a:r>
              <a:t>   R1(comment_id, post_id, author_id, parent_id, content, created_at) [Khóa: comment_id]</a:t>
            </a:r>
          </a:p>
          <a:p>
            <a:pPr>
              <a:defRPr sz="1300">
                <a:solidFill>
                  <a:srgbClr val="1E293B"/>
                </a:solidFill>
              </a:defRPr>
            </a:pPr>
            <a:r>
              <a:t>   R2(post_id, group_id) [Khóa: post_id]   |   R3(group_id, group_name, group_topic) [Khóa: group_id]</a:t>
            </a:r>
          </a:p>
          <a:p>
            <a:pPr>
              <a:defRPr sz="1300">
                <a:solidFill>
                  <a:srgbClr val="1E293B"/>
                </a:solidFill>
              </a:defRPr>
            </a:pPr>
            <a:r>
              <a:t>   R4(author_id, author_name, author_email) [Khóa: author_id]</a:t>
            </a:r>
          </a:p>
          <a:p>
            <a:pPr>
              <a:defRPr sz="1300">
                <a:solidFill>
                  <a:srgbClr val="1E293B"/>
                </a:solidFill>
              </a:defRPr>
            </a:pPr>
          </a:p>
          <a:p>
            <a:pPr>
              <a:defRPr sz="1300">
                <a:solidFill>
                  <a:srgbClr val="1E293B"/>
                </a:solidFill>
              </a:defRPr>
            </a:pPr>
            <a:r>
              <a:t>• Kiểm tra BCNF: Trong mỗi quan hệ con, mọi định thức vế trái đều là siêu khóa =&gt; Đạt chuẩn BCNF 100%.</a:t>
            </a:r>
          </a:p>
          <a:p>
            <a:pPr>
              <a:defRPr sz="1300">
                <a:solidFill>
                  <a:srgbClr val="1E293B"/>
                </a:solidFill>
              </a:defRPr>
            </a:pPr>
            <a:r>
              <a:t>• Bảng ma trận Chase: Áp dụng các FD trong F_min, hàng 1 chuyển đổi thành toàn bộ ký hiệu 'a' =&gt; Xác nhận Lossless Join.</a:t>
            </a:r>
          </a:p>
          <a:p>
            <a:pPr>
              <a:defRPr sz="1300">
                <a:solidFill>
                  <a:srgbClr val="1E293B"/>
                </a:solidFill>
              </a:defRPr>
            </a:pPr>
            <a:r>
              <a:t>• Chuẩn 4NF: Tách thuộc tính đa trị độc lập (sở thích và môn học) thành user_interest và user_subject, triệt tiêu tích Descartes (tiết kiệm 80% dung lượng đĩa).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2 — THANH HƯNG (TV2)</a:t>
            </a:r>
          </a:p>
          <a:p>
            <a:pPr>
              <a:defRPr sz="2200" b="1">
                <a:solidFill>
                  <a:srgbClr val="0F172A"/>
                </a:solidFill>
              </a:defRPr>
            </a:pPr>
            <a:r>
              <a:t>Cơ Sở Lý Thuyết &amp; Cấu Trúc 4 Mô Hình Lưu Trữ Cây</a:t>
            </a:r>
          </a:p>
          <a:p>
            <a:pPr>
              <a:defRPr sz="1300">
                <a:solidFill>
                  <a:srgbClr val="64748B"/>
                </a:solidFill>
              </a:defRPr>
            </a:pPr>
            <a:r>
              <a:t>So sánh đặc trưng kiến trúc giữa Adjacency List, ltree, Nested Set và Closure Table</a:t>
            </a:r>
          </a:p>
        </p:txBody>
      </p:sp>
      <p:graphicFrame>
        <p:nvGraphicFramePr>
          <p:cNvPr id="3" name="Table 2"/>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877824">
                <a:tc>
                  <a:txBody>
                    <a:bodyPr/>
                    <a:lstStyle/>
                    <a:p>
                      <a:pPr>
                        <a:defRPr b="1" sz="1200">
                          <a:solidFill>
                            <a:srgbClr val="FFFFFF"/>
                          </a:solidFill>
                        </a:defRPr>
                      </a:pPr>
                      <a:r>
                        <a:t>Mô hình cây</a:t>
                      </a:r>
                    </a:p>
                  </a:txBody>
                  <a:tcPr>
                    <a:solidFill>
                      <a:srgbClr val="0F172A"/>
                    </a:solidFill>
                  </a:tcPr>
                </a:tc>
                <a:tc>
                  <a:txBody>
                    <a:bodyPr/>
                    <a:lstStyle/>
                    <a:p>
                      <a:pPr>
                        <a:defRPr b="1" sz="1200">
                          <a:solidFill>
                            <a:srgbClr val="FFFFFF"/>
                          </a:solidFill>
                        </a:defRPr>
                      </a:pPr>
                      <a:r>
                        <a:t>Cột lưu trữ cốt lõi</a:t>
                      </a:r>
                    </a:p>
                  </a:txBody>
                  <a:tcPr>
                    <a:solidFill>
                      <a:srgbClr val="0F172A"/>
                    </a:solidFill>
                  </a:tcPr>
                </a:tc>
                <a:tc>
                  <a:txBody>
                    <a:bodyPr/>
                    <a:lstStyle/>
                    <a:p>
                      <a:pPr>
                        <a:defRPr b="1" sz="1200">
                          <a:solidFill>
                            <a:srgbClr val="FFFFFF"/>
                          </a:solidFill>
                        </a:defRPr>
                      </a:pPr>
                      <a:r>
                        <a:t>Ưu điểm nổi bật</a:t>
                      </a:r>
                    </a:p>
                  </a:txBody>
                  <a:tcPr>
                    <a:solidFill>
                      <a:srgbClr val="0F172A"/>
                    </a:solidFill>
                  </a:tcPr>
                </a:tc>
                <a:tc>
                  <a:txBody>
                    <a:bodyPr/>
                    <a:lstStyle/>
                    <a:p>
                      <a:pPr>
                        <a:defRPr b="1" sz="1200">
                          <a:solidFill>
                            <a:srgbClr val="FFFFFF"/>
                          </a:solidFill>
                        </a:defRPr>
                      </a:pPr>
                      <a:r>
                        <a:t>Nhược điểm lớn nhất</a:t>
                      </a:r>
                    </a:p>
                  </a:txBody>
                  <a:tcPr>
                    <a:solidFill>
                      <a:srgbClr val="0F172A"/>
                    </a:solidFill>
                  </a:tcPr>
                </a:tc>
                <a:tc>
                  <a:txBody>
                    <a:bodyPr/>
                    <a:lstStyle/>
                    <a:p>
                      <a:pPr>
                        <a:defRPr b="1" sz="1200">
                          <a:solidFill>
                            <a:srgbClr val="FFFFFF"/>
                          </a:solidFill>
                        </a:defRPr>
                      </a:pPr>
                      <a:r>
                        <a:t>Chỉ mục tối ưu</a:t>
                      </a:r>
                    </a:p>
                  </a:txBody>
                  <a:tcPr>
                    <a:solidFill>
                      <a:srgbClr val="0F172A"/>
                    </a:solidFill>
                  </a:tcPr>
                </a:tc>
              </a:tr>
              <a:tr h="877824">
                <a:tc>
                  <a:txBody>
                    <a:bodyPr/>
                    <a:lstStyle/>
                    <a:p>
                      <a:pPr>
                        <a:defRPr sz="1150">
                          <a:solidFill>
                            <a:srgbClr val="1E293B"/>
                          </a:solidFill>
                        </a:defRPr>
                      </a:pPr>
                      <a:r>
                        <a:t>1. Adjacency List</a:t>
                      </a:r>
                    </a:p>
                  </a:txBody>
                  <a:tcPr/>
                </a:tc>
                <a:tc>
                  <a:txBody>
                    <a:bodyPr/>
                    <a:lstStyle/>
                    <a:p>
                      <a:pPr>
                        <a:defRPr sz="1150">
                          <a:solidFill>
                            <a:srgbClr val="1E293B"/>
                          </a:solidFill>
                        </a:defRPr>
                      </a:pPr>
                      <a:r>
                        <a:t>parent_id</a:t>
                      </a:r>
                    </a:p>
                  </a:txBody>
                  <a:tcPr/>
                </a:tc>
                <a:tc>
                  <a:txBody>
                    <a:bodyPr/>
                    <a:lstStyle/>
                    <a:p>
                      <a:pPr>
                        <a:defRPr sz="1150">
                          <a:solidFill>
                            <a:srgbClr val="1E293B"/>
                          </a:solidFill>
                        </a:defRPr>
                      </a:pPr>
                      <a:r>
                        <a:t>Chèn nút cực nhanh O(1), tối giản</a:t>
                      </a:r>
                    </a:p>
                  </a:txBody>
                  <a:tcPr/>
                </a:tc>
                <a:tc>
                  <a:txBody>
                    <a:bodyPr/>
                    <a:lstStyle/>
                    <a:p>
                      <a:pPr>
                        <a:defRPr sz="1150">
                          <a:solidFill>
                            <a:srgbClr val="1E293B"/>
                          </a:solidFill>
                        </a:defRPr>
                      </a:pPr>
                      <a:r>
                        <a:t>Đọc cây con phải dùng đệ quy CTE</a:t>
                      </a:r>
                    </a:p>
                  </a:txBody>
                  <a:tcPr/>
                </a:tc>
                <a:tc>
                  <a:txBody>
                    <a:bodyPr/>
                    <a:lstStyle/>
                    <a:p>
                      <a:pPr>
                        <a:defRPr sz="1150">
                          <a:solidFill>
                            <a:srgbClr val="1E293B"/>
                          </a:solidFill>
                        </a:defRPr>
                      </a:pPr>
                      <a:r>
                        <a:t>B-tree (post_id, parent_id)</a:t>
                      </a:r>
                    </a:p>
                  </a:txBody>
                  <a:tcPr/>
                </a:tc>
              </a:tr>
              <a:tr h="877824">
                <a:tc>
                  <a:txBody>
                    <a:bodyPr/>
                    <a:lstStyle/>
                    <a:p>
                      <a:pPr>
                        <a:defRPr sz="1150">
                          <a:solidFill>
                            <a:srgbClr val="1E293B"/>
                          </a:solidFill>
                        </a:defRPr>
                      </a:pPr>
                      <a:r>
                        <a:t>2. Path Enumeration</a:t>
                      </a:r>
                    </a:p>
                  </a:txBody>
                  <a:tcPr/>
                </a:tc>
                <a:tc>
                  <a:txBody>
                    <a:bodyPr/>
                    <a:lstStyle/>
                    <a:p>
                      <a:pPr>
                        <a:defRPr sz="1150">
                          <a:solidFill>
                            <a:srgbClr val="1E293B"/>
                          </a:solidFill>
                        </a:defRPr>
                      </a:pPr>
                      <a:r>
                        <a:t>path (ltree)</a:t>
                      </a:r>
                    </a:p>
                  </a:txBody>
                  <a:tcPr/>
                </a:tc>
                <a:tc>
                  <a:txBody>
                    <a:bodyPr/>
                    <a:lstStyle/>
                    <a:p>
                      <a:pPr>
                        <a:defRPr sz="1150">
                          <a:solidFill>
                            <a:srgbClr val="1E293B"/>
                          </a:solidFill>
                        </a:defRPr>
                      </a:pPr>
                      <a:r>
                        <a:t>Đọc cây con, tổ tiên siêu tốc bằng &lt;@ / @&gt;</a:t>
                      </a:r>
                    </a:p>
                  </a:txBody>
                  <a:tcPr/>
                </a:tc>
                <a:tc>
                  <a:txBody>
                    <a:bodyPr/>
                    <a:lstStyle/>
                    <a:p>
                      <a:pPr>
                        <a:defRPr sz="1150">
                          <a:solidFill>
                            <a:srgbClr val="1E293B"/>
                          </a:solidFill>
                        </a:defRPr>
                      </a:pPr>
                      <a:r>
                        <a:t>Chi phí sửa chuỗi path khi dời cành</a:t>
                      </a:r>
                    </a:p>
                  </a:txBody>
                  <a:tcPr/>
                </a:tc>
                <a:tc>
                  <a:txBody>
                    <a:bodyPr/>
                    <a:lstStyle/>
                    <a:p>
                      <a:pPr>
                        <a:defRPr sz="1150">
                          <a:solidFill>
                            <a:srgbClr val="1E293B"/>
                          </a:solidFill>
                        </a:defRPr>
                      </a:pPr>
                      <a:r>
                        <a:t>GiST (path)</a:t>
                      </a:r>
                    </a:p>
                  </a:txBody>
                  <a:tcPr/>
                </a:tc>
              </a:tr>
              <a:tr h="877824">
                <a:tc>
                  <a:txBody>
                    <a:bodyPr/>
                    <a:lstStyle/>
                    <a:p>
                      <a:pPr>
                        <a:defRPr sz="1150">
                          <a:solidFill>
                            <a:srgbClr val="1E293B"/>
                          </a:solidFill>
                        </a:defRPr>
                      </a:pPr>
                      <a:r>
                        <a:t>3. Nested Set</a:t>
                      </a:r>
                    </a:p>
                  </a:txBody>
                  <a:tcPr/>
                </a:tc>
                <a:tc>
                  <a:txBody>
                    <a:bodyPr/>
                    <a:lstStyle/>
                    <a:p>
                      <a:pPr>
                        <a:defRPr sz="1150">
                          <a:solidFill>
                            <a:srgbClr val="1E293B"/>
                          </a:solidFill>
                        </a:defRPr>
                      </a:pPr>
                      <a:r>
                        <a:t>lft, rgt</a:t>
                      </a:r>
                    </a:p>
                  </a:txBody>
                  <a:tcPr/>
                </a:tc>
                <a:tc>
                  <a:txBody>
                    <a:bodyPr/>
                    <a:lstStyle/>
                    <a:p>
                      <a:pPr>
                        <a:defRPr sz="1150">
                          <a:solidFill>
                            <a:srgbClr val="1E293B"/>
                          </a:solidFill>
                        </a:defRPr>
                      </a:pPr>
                      <a:r>
                        <a:t>Đọc cây con bằng 1 phép BETWEEN O(1)</a:t>
                      </a:r>
                    </a:p>
                  </a:txBody>
                  <a:tcPr/>
                </a:tc>
                <a:tc>
                  <a:txBody>
                    <a:bodyPr/>
                    <a:lstStyle/>
                    <a:p>
                      <a:pPr>
                        <a:defRPr sz="1150">
                          <a:solidFill>
                            <a:srgbClr val="1E293B"/>
                          </a:solidFill>
                        </a:defRPr>
                      </a:pPr>
                      <a:r>
                        <a:t>Chèn/xóa/dời cành phải re-index cả cây</a:t>
                      </a:r>
                    </a:p>
                  </a:txBody>
                  <a:tcPr/>
                </a:tc>
                <a:tc>
                  <a:txBody>
                    <a:bodyPr/>
                    <a:lstStyle/>
                    <a:p>
                      <a:pPr>
                        <a:defRPr sz="1150">
                          <a:solidFill>
                            <a:srgbClr val="1E293B"/>
                          </a:solidFill>
                        </a:defRPr>
                      </a:pPr>
                      <a:r>
                        <a:t>Composite (post_id, lft, rgt)</a:t>
                      </a:r>
                    </a:p>
                  </a:txBody>
                  <a:tcPr/>
                </a:tc>
              </a:tr>
              <a:tr h="877824">
                <a:tc>
                  <a:txBody>
                    <a:bodyPr/>
                    <a:lstStyle/>
                    <a:p>
                      <a:pPr>
                        <a:defRPr sz="1150">
                          <a:solidFill>
                            <a:srgbClr val="1E293B"/>
                          </a:solidFill>
                        </a:defRPr>
                      </a:pPr>
                      <a:r>
                        <a:t>4. Closure Table</a:t>
                      </a:r>
                    </a:p>
                  </a:txBody>
                  <a:tcPr/>
                </a:tc>
                <a:tc>
                  <a:txBody>
                    <a:bodyPr/>
                    <a:lstStyle/>
                    <a:p>
                      <a:pPr>
                        <a:defRPr sz="1150">
                          <a:solidFill>
                            <a:srgbClr val="1E293B"/>
                          </a:solidFill>
                        </a:defRPr>
                      </a:pPr>
                      <a:r>
                        <a:t>ancestor, descendant, depth</a:t>
                      </a:r>
                    </a:p>
                  </a:txBody>
                  <a:tcPr/>
                </a:tc>
                <a:tc>
                  <a:txBody>
                    <a:bodyPr/>
                    <a:lstStyle/>
                    <a:p>
                      <a:pPr>
                        <a:defRPr sz="1150">
                          <a:solidFill>
                            <a:srgbClr val="1E293B"/>
                          </a:solidFill>
                        </a:defRPr>
                      </a:pPr>
                      <a:r>
                        <a:t>Đọc cây con, tính độ sâu bằng JOIN cực nhanh</a:t>
                      </a:r>
                    </a:p>
                  </a:txBody>
                  <a:tcPr/>
                </a:tc>
                <a:tc>
                  <a:txBody>
                    <a:bodyPr/>
                    <a:lstStyle/>
                    <a:p>
                      <a:pPr>
                        <a:defRPr sz="1150">
                          <a:solidFill>
                            <a:srgbClr val="1E293B"/>
                          </a:solidFill>
                        </a:defRPr>
                      </a:pPr>
                      <a:r>
                        <a:t>Tốn dung lượng đĩa nhất O(N^2)</a:t>
                      </a:r>
                    </a:p>
                  </a:txBody>
                  <a:tcPr/>
                </a:tc>
                <a:tc>
                  <a:txBody>
                    <a:bodyPr/>
                    <a:lstStyle/>
                    <a:p>
                      <a:pPr>
                        <a:defRPr sz="1150">
                          <a:solidFill>
                            <a:srgbClr val="1E293B"/>
                          </a:solidFill>
                        </a:defRPr>
                      </a:pPr>
                      <a:r>
                        <a:t>Composite (ancestor, depth)</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2 — THANH HƯNG (TV2)</a:t>
            </a:r>
          </a:p>
          <a:p>
            <a:pPr>
              <a:defRPr sz="2200" b="1">
                <a:solidFill>
                  <a:srgbClr val="0F172A"/>
                </a:solidFill>
              </a:defRPr>
            </a:pPr>
            <a:r>
              <a:t>Bộ 10 Truy Vấn Chuẩn Q1–Q10 &amp; Thao Tác Chuyển Nhánh An Toàn</a:t>
            </a:r>
          </a:p>
          <a:p>
            <a:pPr>
              <a:defRPr sz="1300">
                <a:solidFill>
                  <a:srgbClr val="64748B"/>
                </a:solidFill>
              </a:defRPr>
            </a:pPr>
            <a:r>
              <a:t>Quy ước thống nhất Ground Truth và kiểm thử tự động xác nhận 4 mô hình đồng nhất</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Quy ước Ground Truth chuẩn hóa:</a:t>
            </a:r>
          </a:p>
          <a:p>
            <a:pPr>
              <a:defRPr sz="1300">
                <a:solidFill>
                  <a:srgbClr val="1E293B"/>
                </a:solidFill>
              </a:defRPr>
            </a:pPr>
            <a:r>
              <a:t>   - Cây con / Hậu duệ (Q2, Q8): TÍNH CẢ chính nút gốc =&gt; subtree(1) = {1, 2, 3}, số lượng count(1) = 3.</a:t>
            </a:r>
          </a:p>
          <a:p>
            <a:pPr>
              <a:defRPr sz="1300">
                <a:solidFill>
                  <a:srgbClr val="1E293B"/>
                </a:solidFill>
              </a:defRPr>
            </a:pPr>
            <a:r>
              <a:t>   - Tổ tiên nghiêm ngặt (Q3, Q10): KHÔNG tính chính nút đang xét =&gt; ancestors(3) = {1, 2}.</a:t>
            </a:r>
          </a:p>
          <a:p>
            <a:pPr>
              <a:defRPr sz="1300">
                <a:solidFill>
                  <a:srgbClr val="1E293B"/>
                </a:solidFill>
              </a:defRPr>
            </a:pPr>
            <a:r>
              <a:t>   - Độ sâu (Q4): Nút gốc có depth = 1; Mức thụt lề (Q1): Nút gốc có level = 0.</a:t>
            </a:r>
          </a:p>
          <a:p>
            <a:pPr>
              <a:defRPr sz="1300">
                <a:solidFill>
                  <a:srgbClr val="1E293B"/>
                </a:solidFill>
              </a:defRPr>
            </a:pPr>
          </a:p>
          <a:p>
            <a:pPr>
              <a:defRPr sz="1300">
                <a:solidFill>
                  <a:srgbClr val="1E293B"/>
                </a:solidFill>
              </a:defRPr>
            </a:pPr>
            <a:r>
              <a:t>• Thao tác CRUD và Chuyển nhánh (move_subtree) an toàn:</a:t>
            </a:r>
          </a:p>
          <a:p>
            <a:pPr>
              <a:defRPr sz="1300">
                <a:solidFill>
                  <a:srgbClr val="1E293B"/>
                </a:solidFill>
              </a:defRPr>
            </a:pPr>
            <a:r>
              <a:t>   - Kiểm tra chống chu trình: Không bao giờ cho phép chuyển nút A làm con của chính hậu duệ của A.</a:t>
            </a:r>
          </a:p>
          <a:p>
            <a:pPr>
              <a:defRPr sz="1300">
                <a:solidFill>
                  <a:srgbClr val="1E293B"/>
                </a:solidFill>
              </a:defRPr>
            </a:pPr>
            <a:r>
              <a:t>   - Adjacency List: Cập nhật parent_id sau khi kiểm tra CTE đệ quy.</a:t>
            </a:r>
          </a:p>
          <a:p>
            <a:pPr>
              <a:defRPr sz="1300">
                <a:solidFill>
                  <a:srgbClr val="1E293B"/>
                </a:solidFill>
              </a:defRPr>
            </a:pPr>
            <a:r>
              <a:t>   - Path Enumeration: Thay thế tiền tố path của toàn bộ cây con bằng hàm cắt chuỗi an toàn.</a:t>
            </a:r>
          </a:p>
          <a:p>
            <a:pPr>
              <a:defRPr sz="1300">
                <a:solidFill>
                  <a:srgbClr val="1E293B"/>
                </a:solidFill>
              </a:defRPr>
            </a:pPr>
            <a:r>
              <a:t>   - Nested Set: Thủ tục ns_move_subtree tính toán dịch chuyển khoảng cách lft/rgt.</a:t>
            </a:r>
          </a:p>
          <a:p>
            <a:pPr>
              <a:defRPr sz="1300">
                <a:solidFill>
                  <a:srgbClr val="1E293B"/>
                </a:solidFill>
              </a:defRPr>
            </a:pPr>
            <a:r>
              <a:t>   - Closure Table: Xóa các liên kết tổ tiên cũ và nhân bản các cặp liên kết tổ tiên mới.</a:t>
            </a:r>
          </a:p>
          <a:p>
            <a:pPr>
              <a:defRPr sz="1300">
                <a:solidFill>
                  <a:srgbClr val="1E293B"/>
                </a:solidFill>
              </a:defRPr>
            </a:pPr>
          </a:p>
          <a:p>
            <a:pPr>
              <a:defRPr sz="1300">
                <a:solidFill>
                  <a:srgbClr val="1E293B"/>
                </a:solidFill>
              </a:defRPr>
            </a:pPr>
            <a:r>
              <a:t>• Kết quả kiểm thử tự động qua validate.ps1: 4/4 mô hình vượt qua kiểm tra queries=OK, crud=OK.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3 — QUANG HỮU (TV3)</a:t>
            </a:r>
          </a:p>
          <a:p>
            <a:pPr>
              <a:defRPr sz="2200" b="1">
                <a:solidFill>
                  <a:srgbClr val="0F172A"/>
                </a:solidFill>
              </a:defRPr>
            </a:pPr>
            <a:r>
              <a:t>SQL Nâng Cao, Phép Chia Quan Hệ &amp; Lập Trình Thủ Tục CSDL</a:t>
            </a:r>
          </a:p>
          <a:p>
            <a:pPr>
              <a:defRPr sz="1300">
                <a:solidFill>
                  <a:srgbClr val="64748B"/>
                </a:solidFill>
              </a:defRPr>
            </a:pPr>
            <a:r>
              <a:t>Hiện thực phép chia 2 tầng NOT EXISTS, Window Functions và chống SQL Injection</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Phép chia quan hệ (Q3): Tìm sinh viên tham gia TẤT CẢ các nhóm học tập chủ đề 'CSDL':</a:t>
            </a:r>
          </a:p>
          <a:p>
            <a:pPr>
              <a:defRPr sz="1300">
                <a:solidFill>
                  <a:srgbClr val="1E293B"/>
                </a:solidFill>
              </a:defRPr>
            </a:pPr>
            <a:r>
              <a:t>   Dùng 2 tầng NOT EXISTS lồng nhau: 'Tìm SV sao cho KHÔNG TỒN TẠI nhóm CSDL nào mà SV đó KHÔNG tham gia'.</a:t>
            </a:r>
          </a:p>
          <a:p>
            <a:pPr>
              <a:defRPr sz="1300">
                <a:solidFill>
                  <a:srgbClr val="1E293B"/>
                </a:solidFill>
              </a:defRPr>
            </a:pPr>
          </a:p>
          <a:p>
            <a:pPr>
              <a:defRPr sz="1300">
                <a:solidFill>
                  <a:srgbClr val="1E293B"/>
                </a:solidFill>
              </a:defRPr>
            </a:pPr>
            <a:r>
              <a:t>• Phân tích dữ liệu bằng Window Functions (Q5, Q6, Q7):</a:t>
            </a:r>
          </a:p>
          <a:p>
            <a:pPr>
              <a:defRPr sz="1300">
                <a:solidFill>
                  <a:srgbClr val="1E293B"/>
                </a:solidFill>
              </a:defRPr>
            </a:pPr>
            <a:r>
              <a:t>   - DENSE_RANK(): Xếp hạng người dùng tích cực nhất từng tháng mà không làm mất thông tin chi tiết.</a:t>
            </a:r>
          </a:p>
          <a:p>
            <a:pPr>
              <a:defRPr sz="1300">
                <a:solidFill>
                  <a:srgbClr val="1E293B"/>
                </a:solidFill>
              </a:defRPr>
            </a:pPr>
            <a:r>
              <a:t>   - LAG(): Tính khoảng cách thời gian giữa hai bài đăng liên tiếp của cùng một tác giả.</a:t>
            </a:r>
          </a:p>
          <a:p>
            <a:pPr>
              <a:defRPr sz="1300">
                <a:solidFill>
                  <a:srgbClr val="1E293B"/>
                </a:solidFill>
              </a:defRPr>
            </a:pPr>
          </a:p>
          <a:p>
            <a:pPr>
              <a:defRPr sz="1300">
                <a:solidFill>
                  <a:srgbClr val="1E293B"/>
                </a:solidFill>
              </a:defRPr>
            </a:pPr>
            <a:r>
              <a:t>• Lập trình Cơ sở dữ liệu nâng cao (Q9–Q12):</a:t>
            </a:r>
          </a:p>
          <a:p>
            <a:pPr>
              <a:defRPr sz="1300">
                <a:solidFill>
                  <a:srgbClr val="1E293B"/>
                </a:solidFill>
              </a:defRPr>
            </a:pPr>
            <a:r>
              <a:t>   - Trigger Q9: Đảm bảo bình luận con và bình luận cha bắt buộc thuộc cùng một bài viết (BR6).</a:t>
            </a:r>
          </a:p>
          <a:p>
            <a:pPr>
              <a:defRPr sz="1300">
                <a:solidFill>
                  <a:srgbClr val="1E293B"/>
                </a:solidFill>
              </a:defRPr>
            </a:pPr>
            <a:r>
              <a:t>   - Procedure Q10 (proc_add_friend): Kết bạn nguyên tử, tự hoán vị LEAST/GREATEST và đồng bộ friend_count.</a:t>
            </a:r>
          </a:p>
          <a:p>
            <a:pPr>
              <a:defRPr sz="1300">
                <a:solidFill>
                  <a:srgbClr val="1E293B"/>
                </a:solidFill>
              </a:defRPr>
            </a:pPr>
            <a:r>
              <a:t>   - Procedure Q11 (proc_move_comment): Di chuyển nhánh cây an toàn, chặn chu trình đệ quy.</a:t>
            </a:r>
          </a:p>
          <a:p>
            <a:pPr>
              <a:defRPr sz="1300">
                <a:solidFill>
                  <a:srgbClr val="1E293B"/>
                </a:solidFill>
              </a:defRPr>
            </a:pPr>
            <a:r>
              <a:t>   - Dynamic SQL Q12: Dùng format('%L') chống SQL Injection tuyệt đối trước các chuỗi độc hại ' OR 1=1 --.</a:t>
            </a:r>
          </a:p>
          <a:p>
            <a:pPr>
              <a:defRPr sz="1300">
                <a:solidFill>
                  <a:srgbClr val="1E293B"/>
                </a:solidFill>
              </a:defRPr>
            </a:pPr>
            <a:r>
              <a:t>   - Embedded SQL: Module Python psycopg2 minh họa con trỏ Cursor và tham số hóa an toàn.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3 — QUANG HỮU (TV3)</a:t>
            </a:r>
          </a:p>
          <a:p>
            <a:pPr>
              <a:defRPr sz="2200" b="1">
                <a:solidFill>
                  <a:srgbClr val="0F172A"/>
                </a:solidFill>
              </a:defRPr>
            </a:pPr>
            <a:r>
              <a:t>SQL Đệ Quy Trên Đồ Thị Bạn Bè Bằng WITH RECURSIVE</a:t>
            </a:r>
          </a:p>
          <a:p>
            <a:pPr>
              <a:defRPr sz="1300">
                <a:solidFill>
                  <a:srgbClr val="64748B"/>
                </a:solidFill>
              </a:defRPr>
            </a:pPr>
            <a:r>
              <a:t>Duyệt đồ thị vô hướng 2 chiều qua View friend_edge và các bài toán mạng xã hội</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Cơ chế duyệt đồ thị 2 chiều: Xây dựng View friend_edge dùng UNION ALL hoán vị (user_a, user_b) và (user_b, user_a).</a:t>
            </a:r>
          </a:p>
          <a:p>
            <a:pPr>
              <a:defRPr sz="1300">
                <a:solidFill>
                  <a:srgbClr val="1E293B"/>
                </a:solidFill>
              </a:defRPr>
            </a:pPr>
          </a:p>
          <a:p>
            <a:pPr>
              <a:defRPr sz="1300">
                <a:solidFill>
                  <a:srgbClr val="1E293B"/>
                </a:solidFill>
              </a:defRPr>
            </a:pPr>
            <a:r>
              <a:t>• R1 — Bạn của bạn (FoF độ sâu k = 2): Lấy bạn bè ở khoảng cách đúng 2 bước của An (user_id = 1), loại bỏ chính An và những người đã là bạn trực tiếp =&gt; Kết quả kỳ vọng: {Dung (ID 4), Em (ID 5)}.</a:t>
            </a:r>
          </a:p>
          <a:p>
            <a:pPr>
              <a:defRPr sz="1300">
                <a:solidFill>
                  <a:srgbClr val="1E293B"/>
                </a:solidFill>
              </a:defRPr>
            </a:pPr>
          </a:p>
          <a:p>
            <a:pPr>
              <a:defRPr sz="1300">
                <a:solidFill>
                  <a:srgbClr val="1E293B"/>
                </a:solidFill>
              </a:defRPr>
            </a:pPr>
            <a:r>
              <a:t>• R2 — Đường đi ngắn nhất BFS: Thuật toán tìm kiếm theo chiều rộng duy trì mảng nút đã đi qua ARRAY[1, b] để chặn chu trình và dừng lại ngay khi chạm đỉnh đích =&gt; Đường đi ngắn nhất An -&gt; Em: [1, 3, 5] (độ dài 2).</a:t>
            </a:r>
          </a:p>
          <a:p>
            <a:pPr>
              <a:defRPr sz="1300">
                <a:solidFill>
                  <a:srgbClr val="1E293B"/>
                </a:solidFill>
              </a:defRPr>
            </a:pPr>
          </a:p>
          <a:p>
            <a:pPr>
              <a:defRPr sz="1300">
                <a:solidFill>
                  <a:srgbClr val="1E293B"/>
                </a:solidFill>
              </a:defRPr>
            </a:pPr>
            <a:r>
              <a:t>• R3 — Phát hiện chu trình vòng kín: Liệt kê các chu trình bạn bè khép kín độ dài 3 đến 5 =&gt; Phát hiện 3 chu trình: (1-2-3), (2-3-5-4) và (1-2-4-5-3).</a:t>
            </a:r>
          </a:p>
          <a:p>
            <a:pPr>
              <a:defRPr sz="1300">
                <a:solidFill>
                  <a:srgbClr val="1E293B"/>
                </a:solidFill>
              </a:defRPr>
            </a:pPr>
          </a:p>
          <a:p>
            <a:pPr>
              <a:defRPr sz="1300">
                <a:solidFill>
                  <a:srgbClr val="1E293B"/>
                </a:solidFill>
              </a:defRPr>
            </a:pPr>
            <a:r>
              <a:t>• R4 — Thuật toán gợi ý kết bạn: Đếm số lượng bạn chung giữa người dùng mục tiêu với các người dùng chưa kết bạn, xếp hạng giảm dần theo độ ưu tiên đề xuất.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2 — THANH HƯNG (TV2)</a:t>
            </a:r>
          </a:p>
          <a:p>
            <a:pPr>
              <a:defRPr sz="2200" b="1">
                <a:solidFill>
                  <a:srgbClr val="0F172A"/>
                </a:solidFill>
              </a:defRPr>
            </a:pPr>
            <a:r>
              <a:t>Mô Hình Hướng Đối Tượng ODL/OQL &amp; Lệch Pha Trở Kháng</a:t>
            </a:r>
          </a:p>
          <a:p>
            <a:pPr>
              <a:defRPr sz="1300">
                <a:solidFill>
                  <a:srgbClr val="64748B"/>
                </a:solidFill>
              </a:defRPr>
            </a:pPr>
            <a:r>
              <a:t>Thiết kế 6 lớp chuẩn ODMG 3.0 và phân tích Object-Relational Impedance Mismatch</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Lược đồ ODL chuẩn ODMG 3.0 (schema.odl):</a:t>
            </a:r>
          </a:p>
          <a:p>
            <a:pPr>
              <a:defRPr sz="1300">
                <a:solidFill>
                  <a:srgbClr val="1E293B"/>
                </a:solidFill>
              </a:defRPr>
            </a:pPr>
            <a:r>
              <a:t>   - Định nghĩa 6 lớp: NguoiDung, NhomHocTap, BaiDang, BaiThaoLuan, BaiTaiLieu, BinhLuan.</a:t>
            </a:r>
          </a:p>
          <a:p>
            <a:pPr>
              <a:defRPr sz="1300">
                <a:solidFill>
                  <a:srgbClr val="1E293B"/>
                </a:solidFill>
              </a:defRPr>
            </a:pPr>
            <a:r>
              <a:t>   - Khai báo tập mở rộng (extent), quan hệ đối ngẫu 2 chiều (inverse), và các phương thức doSau(), soBanChung().</a:t>
            </a:r>
          </a:p>
          <a:p>
            <a:pPr>
              <a:defRPr sz="1300">
                <a:solidFill>
                  <a:srgbClr val="1E293B"/>
                </a:solidFill>
              </a:defRPr>
            </a:pPr>
          </a:p>
          <a:p>
            <a:pPr>
              <a:defRPr sz="1300">
                <a:solidFill>
                  <a:srgbClr val="1E293B"/>
                </a:solidFill>
              </a:defRPr>
            </a:pPr>
            <a:r>
              <a:t>• Truy vấn OQL (oql_queries.md):</a:t>
            </a:r>
          </a:p>
          <a:p>
            <a:pPr>
              <a:defRPr sz="1300">
                <a:solidFill>
                  <a:srgbClr val="1E293B"/>
                </a:solidFill>
              </a:defRPr>
            </a:pPr>
            <a:r>
              <a:t>   - Điều hướng đối tượng tự nhiên bằng toán tử dấu chấm (.) không cần viết lệnh JOIN: p.tacGia.hoTen</a:t>
            </a:r>
          </a:p>
          <a:p>
            <a:pPr>
              <a:defRPr sz="1300">
                <a:solidFill>
                  <a:srgbClr val="1E293B"/>
                </a:solidFill>
              </a:defRPr>
            </a:pPr>
            <a:r>
              <a:t>   - Gọi phương thức trực tiếp trong mệnh đề lọc: SELECT c.noiDung FROM c IN dsBinhLuan WHERE c.doSau() &gt;= 3;</a:t>
            </a:r>
          </a:p>
          <a:p>
            <a:pPr>
              <a:defRPr sz="1300">
                <a:solidFill>
                  <a:srgbClr val="1E293B"/>
                </a:solidFill>
              </a:defRPr>
            </a:pPr>
          </a:p>
          <a:p>
            <a:pPr>
              <a:defRPr sz="1300">
                <a:solidFill>
                  <a:srgbClr val="1E293B"/>
                </a:solidFill>
              </a:defRPr>
            </a:pPr>
            <a:r>
              <a:t>• Phân tích Lệch pha trở kháng (Object-Relational Impedance Mismatch):</a:t>
            </a:r>
          </a:p>
          <a:p>
            <a:pPr>
              <a:defRPr sz="1300">
                <a:solidFill>
                  <a:srgbClr val="1E293B"/>
                </a:solidFill>
              </a:defRPr>
            </a:pPr>
            <a:r>
              <a:t>   1. Lệch pha kế thừa: OOP có kế thừa tự nhiên; RDBMS phải mô phỏng bằng Single Table kèm cột phân loại post_type.</a:t>
            </a:r>
          </a:p>
          <a:p>
            <a:pPr>
              <a:defRPr sz="1300">
                <a:solidFill>
                  <a:srgbClr val="1E293B"/>
                </a:solidFill>
              </a:defRPr>
            </a:pPr>
            <a:r>
              <a:t>   2. Lệch pha bản sắc (Identity): OOP phân biệt bằng địa chỉ bộ nhớ/OID; RDBMS phân biệt bằng giá trị khóa chính.</a:t>
            </a:r>
          </a:p>
          <a:p>
            <a:pPr>
              <a:defRPr sz="1300">
                <a:solidFill>
                  <a:srgbClr val="1E293B"/>
                </a:solidFill>
              </a:defRPr>
            </a:pPr>
            <a:r>
              <a:t>   3. Vấn đề N+1 truy vấn trong ORM (JPA/Hibernate): Phải dùng JOIN FETCH để tránh bắn thêm N câu truy vấn con.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4 — CHƯƠNG VÕ (TV4)</a:t>
            </a:r>
          </a:p>
          <a:p>
            <a:pPr>
              <a:defRPr sz="2200" b="1">
                <a:solidFill>
                  <a:srgbClr val="0F172A"/>
                </a:solidFill>
              </a:defRPr>
            </a:pPr>
            <a:r>
              <a:t>CSDL Đồ Thị Chuyên Dụng Neo4j &amp; Đối Chiếu Với PostgreSQL</a:t>
            </a:r>
          </a:p>
          <a:p>
            <a:pPr>
              <a:defRPr sz="1300">
                <a:solidFill>
                  <a:srgbClr val="64748B"/>
                </a:solidFill>
              </a:defRPr>
            </a:pPr>
            <a:r>
              <a:t>So sánh toàn diện cú pháp và hiệu năng giữa Cypher và WITH RECURSIVE</a:t>
            </a:r>
          </a:p>
        </p:txBody>
      </p:sp>
      <p:sp>
        <p:nvSpPr>
          <p:cNvPr id="3" name="TextBox 2"/>
          <p:cNvSpPr txBox="1"/>
          <p:nvPr/>
        </p:nvSpPr>
        <p:spPr>
          <a:xfrm>
            <a:off x="731520" y="1645920"/>
            <a:ext cx="5669280" cy="4572000"/>
          </a:xfrm>
          <a:prstGeom prst="rect">
            <a:avLst/>
          </a:prstGeom>
          <a:noFill/>
        </p:spPr>
        <p:txBody>
          <a:bodyPr wrap="square">
            <a:spAutoFit/>
          </a:bodyPr>
          <a:lstStyle/>
          <a:p>
            <a:pPr>
              <a:defRPr sz="1250">
                <a:solidFill>
                  <a:srgbClr val="1E293B"/>
                </a:solidFill>
              </a:defRPr>
            </a:pPr>
            <a:r>
              <a:t>• Triển khai Neo4j Community: Nạp đồ thị 6 người dùng (:User) và các quan hệ [:FRIEND], [:FOLLOWS].</a:t>
            </a:r>
          </a:p>
          <a:p>
            <a:pPr>
              <a:defRPr sz="1250">
                <a:solidFill>
                  <a:srgbClr val="1E293B"/>
                </a:solidFill>
              </a:defRPr>
            </a:pPr>
          </a:p>
          <a:p>
            <a:pPr>
              <a:defRPr sz="1250">
                <a:solidFill>
                  <a:srgbClr val="1E293B"/>
                </a:solidFill>
              </a:defRPr>
            </a:pPr>
            <a:r>
              <a:t>• So sánh cú pháp đường đi ngắn nhất:</a:t>
            </a:r>
          </a:p>
          <a:p>
            <a:pPr>
              <a:defRPr sz="1250">
                <a:solidFill>
                  <a:srgbClr val="1E293B"/>
                </a:solidFill>
              </a:defRPr>
            </a:pPr>
            <a:r>
              <a:t>   - Neo4j (Cypher): MATCH p = shortestPath((a:User {name:'An'})-[:FRIEND*..6]-(b:User {name:'Em'})) RETURN p;</a:t>
            </a:r>
          </a:p>
          <a:p>
            <a:pPr>
              <a:defRPr sz="1250">
                <a:solidFill>
                  <a:srgbClr val="1E293B"/>
                </a:solidFill>
              </a:defRPr>
            </a:pPr>
            <a:r>
              <a:t>   - PostgreSQL: CTE đệ quy BFS dài hơn 25 dòng kèm mảng kiểm tra vết.</a:t>
            </a:r>
          </a:p>
          <a:p>
            <a:pPr>
              <a:defRPr sz="1250">
                <a:solidFill>
                  <a:srgbClr val="1E293B"/>
                </a:solidFill>
              </a:defRPr>
            </a:pPr>
          </a:p>
          <a:p>
            <a:pPr>
              <a:defRPr sz="1250">
                <a:solidFill>
                  <a:srgbClr val="1E293B"/>
                </a:solidFill>
              </a:defRPr>
            </a:pPr>
            <a:r>
              <a:t>• Đánh giá hiệu năng và kiến trúc:</a:t>
            </a:r>
          </a:p>
          <a:p>
            <a:pPr>
              <a:defRPr sz="1250">
                <a:solidFill>
                  <a:srgbClr val="1E293B"/>
                </a:solidFill>
              </a:defRPr>
            </a:pPr>
            <a:r>
              <a:t>   - Neo4j áp dụng Index-free Adjacency (duyệt con trỏ trực tiếp trong RAM) =&gt; Hiệu năng vượt trội khi độ sâu k &gt;= 3.</a:t>
            </a:r>
          </a:p>
          <a:p>
            <a:pPr>
              <a:defRPr sz="1250">
                <a:solidFill>
                  <a:srgbClr val="1E293B"/>
                </a:solidFill>
              </a:defRPr>
            </a:pPr>
            <a:r>
              <a:t>   - PostgreSQL tối ưu cho các quan hệ phẳng, cây phân cấp và giao dịch ACID cốt lõi.</a:t>
            </a:r>
          </a:p>
        </p:txBody>
      </p:sp>
      <p:pic>
        <p:nvPicPr>
          <p:cNvPr id="4" name="Picture 3" descr="01_neo4j_full_graph.png"/>
          <p:cNvPicPr>
            <a:picLocks noChangeAspect="1"/>
          </p:cNvPicPr>
          <p:nvPr/>
        </p:nvPicPr>
        <p:blipFill>
          <a:blip r:embed="rId2"/>
          <a:stretch>
            <a:fillRect/>
          </a:stretch>
        </p:blipFill>
        <p:spPr>
          <a:xfrm>
            <a:off x="6675120" y="1645920"/>
            <a:ext cx="4754880" cy="51087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4 — CHƯƠNG VÕ (TV4)</a:t>
            </a:r>
          </a:p>
          <a:p>
            <a:pPr>
              <a:defRPr sz="2200" b="1">
                <a:solidFill>
                  <a:srgbClr val="0F172A"/>
                </a:solidFill>
              </a:defRPr>
            </a:pPr>
            <a:r>
              <a:t>Điều Khiển Đồng Thời &amp; Thực Nghiệm Kích Hoạt Deadlock (T3)</a:t>
            </a:r>
          </a:p>
          <a:p>
            <a:pPr>
              <a:defRPr sz="1300">
                <a:solidFill>
                  <a:srgbClr val="64748B"/>
                </a:solidFill>
              </a:defRPr>
            </a:pPr>
            <a:r>
              <a:t>Tái hiện bế tắc khóa dòng giữa 2 phiên và ma trận kiểm thử các mức cô lập</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Kịch bản thực nghiệm Deadlock giữa 2 phiên (Session A &amp; Session B):</a:t>
            </a:r>
          </a:p>
          <a:p>
            <a:pPr>
              <a:defRPr sz="1300">
                <a:solidFill>
                  <a:srgbClr val="1E293B"/>
                </a:solidFill>
              </a:defRPr>
            </a:pPr>
            <a:r>
              <a:t>   - Session A xin khóa dòng User 1 FOR UPDATE, sau đó yêu cầu khóa User 2.</a:t>
            </a:r>
          </a:p>
          <a:p>
            <a:pPr>
              <a:defRPr sz="1300">
                <a:solidFill>
                  <a:srgbClr val="1E293B"/>
                </a:solidFill>
              </a:defRPr>
            </a:pPr>
            <a:r>
              <a:t>   - Session B xin khóa dòng User 2 FOR UPDATE, sau đó yêu cầu khóa User 1.</a:t>
            </a:r>
          </a:p>
          <a:p>
            <a:pPr>
              <a:defRPr sz="1300">
                <a:solidFill>
                  <a:srgbClr val="1E293B"/>
                </a:solidFill>
              </a:defRPr>
            </a:pPr>
            <a:r>
              <a:t>   - Kết quả thực nghiệm: PostgreSQL phát hiện chu trình chờ (Wait-For Graph) và hủy Session A với mã lỗi chính xác:</a:t>
            </a:r>
          </a:p>
          <a:p>
            <a:pPr>
              <a:defRPr sz="1300">
                <a:solidFill>
                  <a:srgbClr val="1E293B"/>
                </a:solidFill>
              </a:defRPr>
            </a:pPr>
            <a:r>
              <a:t>     ERROR: deadlock detected (SQLSTATE: 40P01) — Log nguyên bản lưu tại deadlock_t3_log.txt.</a:t>
            </a:r>
          </a:p>
          <a:p>
            <a:pPr>
              <a:defRPr sz="1300">
                <a:solidFill>
                  <a:srgbClr val="1E293B"/>
                </a:solidFill>
              </a:defRPr>
            </a:pPr>
          </a:p>
          <a:p>
            <a:pPr>
              <a:defRPr sz="1300">
                <a:solidFill>
                  <a:srgbClr val="1E293B"/>
                </a:solidFill>
              </a:defRPr>
            </a:pPr>
            <a:r>
              <a:t>• Ma trận khảo sát 3 mức cô lập giao dịch trên PostgreSQL:</a:t>
            </a:r>
          </a:p>
          <a:p>
            <a:pPr>
              <a:defRPr sz="1300">
                <a:solidFill>
                  <a:srgbClr val="1E293B"/>
                </a:solidFill>
              </a:defRPr>
            </a:pPr>
            <a:r>
              <a:t>   - READ COMMITTED: Chặn Dirty Read; vẫn xảy ra Non-Repeatable Read và Phantom Read.</a:t>
            </a:r>
          </a:p>
          <a:p>
            <a:pPr>
              <a:defRPr sz="1300">
                <a:solidFill>
                  <a:srgbClr val="1E293B"/>
                </a:solidFill>
              </a:defRPr>
            </a:pPr>
            <a:r>
              <a:t>   - REPEATABLE READ: Áp dụng MVCC Snapshot Isolation =&gt; Chặn thành công cả Non-Repeatable Read và Phantom Read.</a:t>
            </a:r>
          </a:p>
          <a:p>
            <a:pPr>
              <a:defRPr sz="1300">
                <a:solidFill>
                  <a:srgbClr val="1E293B"/>
                </a:solidFill>
              </a:defRPr>
            </a:pPr>
            <a:r>
              <a:t>   - SERIALIZABLE: Thuật toán SSI theo dõi SIREAD locks, tự động ngắt phiên khi có xung đột tuần tự hóa (mã lỗi 40001).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4 — CHƯƠNG VÕ (TV4)</a:t>
            </a:r>
          </a:p>
          <a:p>
            <a:pPr>
              <a:defRPr sz="2200" b="1">
                <a:solidFill>
                  <a:srgbClr val="0F172A"/>
                </a:solidFill>
              </a:defRPr>
            </a:pPr>
            <a:r>
              <a:t>Thử Tải Đồng Thời Bằng pgbench Trên Stored Procedure</a:t>
            </a:r>
          </a:p>
          <a:p>
            <a:pPr>
              <a:defRPr sz="1300">
                <a:solidFill>
                  <a:srgbClr val="64748B"/>
                </a:solidFill>
              </a:defRPr>
            </a:pPr>
            <a:r>
              <a:t>Đo lường thông lượng TPS và độ trễ dưới các mức tải 5, 10, 20 clients</a:t>
            </a:r>
          </a:p>
        </p:txBody>
      </p:sp>
      <p:graphicFrame>
        <p:nvGraphicFramePr>
          <p:cNvPr id="3" name="Table 2"/>
          <p:cNvGraphicFramePr>
            <a:graphicFrameLocks noGrp="1"/>
          </p:cNvGraphicFramePr>
          <p:nvPr/>
        </p:nvGraphicFramePr>
        <p:xfrm>
          <a:off x="731520" y="1645920"/>
          <a:ext cx="10698480" cy="2286000"/>
        </p:xfrm>
        <a:graphic>
          <a:graphicData uri="http://schemas.openxmlformats.org/drawingml/2006/table">
            <a:tbl>
              <a:tblPr firstRow="1" bandRow="1">
                <a:tableStyleId>{5C22544A-7EE6-4342-B048-85BDC9FD1C3A}</a:tableStyleId>
              </a:tblPr>
              <a:tblGrid>
                <a:gridCol w="1783080"/>
                <a:gridCol w="1783080"/>
                <a:gridCol w="1783080"/>
                <a:gridCol w="1783080"/>
                <a:gridCol w="1783080"/>
                <a:gridCol w="1783080"/>
              </a:tblGrid>
              <a:tr h="571500">
                <a:tc>
                  <a:txBody>
                    <a:bodyPr/>
                    <a:lstStyle/>
                    <a:p>
                      <a:pPr>
                        <a:defRPr b="1" sz="1200">
                          <a:solidFill>
                            <a:srgbClr val="FFFFFF"/>
                          </a:solidFill>
                        </a:defRPr>
                      </a:pPr>
                      <a:r>
                        <a:t>Số clients (-c)</a:t>
                      </a:r>
                    </a:p>
                  </a:txBody>
                  <a:tcPr>
                    <a:solidFill>
                      <a:srgbClr val="0F172A"/>
                    </a:solidFill>
                  </a:tcPr>
                </a:tc>
                <a:tc>
                  <a:txBody>
                    <a:bodyPr/>
                    <a:lstStyle/>
                    <a:p>
                      <a:pPr>
                        <a:defRPr b="1" sz="1200">
                          <a:solidFill>
                            <a:srgbClr val="FFFFFF"/>
                          </a:solidFill>
                        </a:defRPr>
                      </a:pPr>
                      <a:r>
                        <a:t>Tổng giao dịch</a:t>
                      </a:r>
                    </a:p>
                  </a:txBody>
                  <a:tcPr>
                    <a:solidFill>
                      <a:srgbClr val="0F172A"/>
                    </a:solidFill>
                  </a:tcPr>
                </a:tc>
                <a:tc>
                  <a:txBody>
                    <a:bodyPr/>
                    <a:lstStyle/>
                    <a:p>
                      <a:pPr>
                        <a:defRPr b="1" sz="1200">
                          <a:solidFill>
                            <a:srgbClr val="FFFFFF"/>
                          </a:solidFill>
                        </a:defRPr>
                      </a:pPr>
                      <a:r>
                        <a:t>Số GD thành công</a:t>
                      </a:r>
                    </a:p>
                  </a:txBody>
                  <a:tcPr>
                    <a:solidFill>
                      <a:srgbClr val="0F172A"/>
                    </a:solidFill>
                  </a:tcPr>
                </a:tc>
                <a:tc>
                  <a:txBody>
                    <a:bodyPr/>
                    <a:lstStyle/>
                    <a:p>
                      <a:pPr>
                        <a:defRPr b="1" sz="1200">
                          <a:solidFill>
                            <a:srgbClr val="FFFFFF"/>
                          </a:solidFill>
                        </a:defRPr>
                      </a:pPr>
                      <a:r>
                        <a:t>Tỷ lệ lỗi / Deadlock</a:t>
                      </a:r>
                    </a:p>
                  </a:txBody>
                  <a:tcPr>
                    <a:solidFill>
                      <a:srgbClr val="0F172A"/>
                    </a:solidFill>
                  </a:tcPr>
                </a:tc>
                <a:tc>
                  <a:txBody>
                    <a:bodyPr/>
                    <a:lstStyle/>
                    <a:p>
                      <a:pPr>
                        <a:defRPr b="1" sz="1200">
                          <a:solidFill>
                            <a:srgbClr val="FFFFFF"/>
                          </a:solidFill>
                        </a:defRPr>
                      </a:pPr>
                      <a:r>
                        <a:t>Độ trễ TB (Latency)</a:t>
                      </a:r>
                    </a:p>
                  </a:txBody>
                  <a:tcPr>
                    <a:solidFill>
                      <a:srgbClr val="0F172A"/>
                    </a:solidFill>
                  </a:tcPr>
                </a:tc>
                <a:tc>
                  <a:txBody>
                    <a:bodyPr/>
                    <a:lstStyle/>
                    <a:p>
                      <a:pPr>
                        <a:defRPr b="1" sz="1200">
                          <a:solidFill>
                            <a:srgbClr val="FFFFFF"/>
                          </a:solidFill>
                        </a:defRPr>
                      </a:pPr>
                      <a:r>
                        <a:t>Thông lượng (TPS)</a:t>
                      </a:r>
                    </a:p>
                  </a:txBody>
                  <a:tcPr>
                    <a:solidFill>
                      <a:srgbClr val="0F172A"/>
                    </a:solidFill>
                  </a:tcPr>
                </a:tc>
              </a:tr>
              <a:tr h="571500">
                <a:tc>
                  <a:txBody>
                    <a:bodyPr/>
                    <a:lstStyle/>
                    <a:p>
                      <a:pPr>
                        <a:defRPr sz="1200">
                          <a:solidFill>
                            <a:srgbClr val="1E293B"/>
                          </a:solidFill>
                        </a:defRPr>
                      </a:pPr>
                      <a:r>
                        <a:t>5 clients</a:t>
                      </a:r>
                    </a:p>
                  </a:txBody>
                  <a:tcPr/>
                </a:tc>
                <a:tc>
                  <a:txBody>
                    <a:bodyPr/>
                    <a:lstStyle/>
                    <a:p>
                      <a:pPr>
                        <a:defRPr sz="1200">
                          <a:solidFill>
                            <a:srgbClr val="1E293B"/>
                          </a:solidFill>
                        </a:defRPr>
                      </a:pPr>
                      <a:r>
                        <a:t>500</a:t>
                      </a:r>
                    </a:p>
                  </a:txBody>
                  <a:tcPr/>
                </a:tc>
                <a:tc>
                  <a:txBody>
                    <a:bodyPr/>
                    <a:lstStyle/>
                    <a:p>
                      <a:pPr>
                        <a:defRPr sz="1200">
                          <a:solidFill>
                            <a:srgbClr val="1E293B"/>
                          </a:solidFill>
                        </a:defRPr>
                      </a:pPr>
                      <a:r>
                        <a:t>500 / 500 (100%)</a:t>
                      </a:r>
                    </a:p>
                  </a:txBody>
                  <a:tcPr/>
                </a:tc>
                <a:tc>
                  <a:txBody>
                    <a:bodyPr/>
                    <a:lstStyle/>
                    <a:p>
                      <a:pPr>
                        <a:defRPr sz="1200">
                          <a:solidFill>
                            <a:srgbClr val="1E293B"/>
                          </a:solidFill>
                        </a:defRPr>
                      </a:pPr>
                      <a:r>
                        <a:t>0.00%</a:t>
                      </a:r>
                    </a:p>
                  </a:txBody>
                  <a:tcPr/>
                </a:tc>
                <a:tc>
                  <a:txBody>
                    <a:bodyPr/>
                    <a:lstStyle/>
                    <a:p>
                      <a:pPr>
                        <a:defRPr sz="1200">
                          <a:solidFill>
                            <a:srgbClr val="1E293B"/>
                          </a:solidFill>
                        </a:defRPr>
                      </a:pPr>
                      <a:r>
                        <a:t>1.448 ms</a:t>
                      </a:r>
                    </a:p>
                  </a:txBody>
                  <a:tcPr/>
                </a:tc>
                <a:tc>
                  <a:txBody>
                    <a:bodyPr/>
                    <a:lstStyle/>
                    <a:p>
                      <a:pPr>
                        <a:defRPr sz="1200">
                          <a:solidFill>
                            <a:srgbClr val="1E293B"/>
                          </a:solidFill>
                        </a:defRPr>
                      </a:pPr>
                      <a:r>
                        <a:t>3.452,90 TPS</a:t>
                      </a:r>
                    </a:p>
                  </a:txBody>
                  <a:tcPr/>
                </a:tc>
              </a:tr>
              <a:tr h="571500">
                <a:tc>
                  <a:txBody>
                    <a:bodyPr/>
                    <a:lstStyle/>
                    <a:p>
                      <a:pPr>
                        <a:defRPr sz="1200">
                          <a:solidFill>
                            <a:srgbClr val="1E293B"/>
                          </a:solidFill>
                        </a:defRPr>
                      </a:pPr>
                      <a:r>
                        <a:t>10 clients</a:t>
                      </a:r>
                    </a:p>
                  </a:txBody>
                  <a:tcPr/>
                </a:tc>
                <a:tc>
                  <a:txBody>
                    <a:bodyPr/>
                    <a:lstStyle/>
                    <a:p>
                      <a:pPr>
                        <a:defRPr sz="1200">
                          <a:solidFill>
                            <a:srgbClr val="1E293B"/>
                          </a:solidFill>
                        </a:defRPr>
                      </a:pPr>
                      <a:r>
                        <a:t>1.000</a:t>
                      </a:r>
                    </a:p>
                  </a:txBody>
                  <a:tcPr/>
                </a:tc>
                <a:tc>
                  <a:txBody>
                    <a:bodyPr/>
                    <a:lstStyle/>
                    <a:p>
                      <a:pPr>
                        <a:defRPr sz="1200">
                          <a:solidFill>
                            <a:srgbClr val="1E293B"/>
                          </a:solidFill>
                        </a:defRPr>
                      </a:pPr>
                      <a:r>
                        <a:t>1.000 / 1.000 (100%)</a:t>
                      </a:r>
                    </a:p>
                  </a:txBody>
                  <a:tcPr/>
                </a:tc>
                <a:tc>
                  <a:txBody>
                    <a:bodyPr/>
                    <a:lstStyle/>
                    <a:p>
                      <a:pPr>
                        <a:defRPr sz="1200">
                          <a:solidFill>
                            <a:srgbClr val="1E293B"/>
                          </a:solidFill>
                        </a:defRPr>
                      </a:pPr>
                      <a:r>
                        <a:t>0.00%</a:t>
                      </a:r>
                    </a:p>
                  </a:txBody>
                  <a:tcPr/>
                </a:tc>
                <a:tc>
                  <a:txBody>
                    <a:bodyPr/>
                    <a:lstStyle/>
                    <a:p>
                      <a:pPr>
                        <a:defRPr sz="1200">
                          <a:solidFill>
                            <a:srgbClr val="1E293B"/>
                          </a:solidFill>
                        </a:defRPr>
                      </a:pPr>
                      <a:r>
                        <a:t>2.912 ms</a:t>
                      </a:r>
                    </a:p>
                  </a:txBody>
                  <a:tcPr/>
                </a:tc>
                <a:tc>
                  <a:txBody>
                    <a:bodyPr/>
                    <a:lstStyle/>
                    <a:p>
                      <a:pPr>
                        <a:defRPr sz="1200">
                          <a:solidFill>
                            <a:srgbClr val="1E293B"/>
                          </a:solidFill>
                        </a:defRPr>
                      </a:pPr>
                      <a:r>
                        <a:t>3.434,18 TPS</a:t>
                      </a:r>
                    </a:p>
                  </a:txBody>
                  <a:tcPr/>
                </a:tc>
              </a:tr>
              <a:tr h="571500">
                <a:tc>
                  <a:txBody>
                    <a:bodyPr/>
                    <a:lstStyle/>
                    <a:p>
                      <a:pPr>
                        <a:defRPr sz="1200">
                          <a:solidFill>
                            <a:srgbClr val="1E293B"/>
                          </a:solidFill>
                        </a:defRPr>
                      </a:pPr>
                      <a:r>
                        <a:t>20 clients</a:t>
                      </a:r>
                    </a:p>
                  </a:txBody>
                  <a:tcPr/>
                </a:tc>
                <a:tc>
                  <a:txBody>
                    <a:bodyPr/>
                    <a:lstStyle/>
                    <a:p>
                      <a:pPr>
                        <a:defRPr sz="1200">
                          <a:solidFill>
                            <a:srgbClr val="1E293B"/>
                          </a:solidFill>
                        </a:defRPr>
                      </a:pPr>
                      <a:r>
                        <a:t>2.000</a:t>
                      </a:r>
                    </a:p>
                  </a:txBody>
                  <a:tcPr/>
                </a:tc>
                <a:tc>
                  <a:txBody>
                    <a:bodyPr/>
                    <a:lstStyle/>
                    <a:p>
                      <a:pPr>
                        <a:defRPr sz="1200">
                          <a:solidFill>
                            <a:srgbClr val="1E293B"/>
                          </a:solidFill>
                        </a:defRPr>
                      </a:pPr>
                      <a:r>
                        <a:t>2.000 / 2.000 (100%)</a:t>
                      </a:r>
                    </a:p>
                  </a:txBody>
                  <a:tcPr/>
                </a:tc>
                <a:tc>
                  <a:txBody>
                    <a:bodyPr/>
                    <a:lstStyle/>
                    <a:p>
                      <a:pPr>
                        <a:defRPr sz="1200">
                          <a:solidFill>
                            <a:srgbClr val="1E293B"/>
                          </a:solidFill>
                        </a:defRPr>
                      </a:pPr>
                      <a:r>
                        <a:t>0.00%</a:t>
                      </a:r>
                    </a:p>
                  </a:txBody>
                  <a:tcPr/>
                </a:tc>
                <a:tc>
                  <a:txBody>
                    <a:bodyPr/>
                    <a:lstStyle/>
                    <a:p>
                      <a:pPr>
                        <a:defRPr sz="1200">
                          <a:solidFill>
                            <a:srgbClr val="1E293B"/>
                          </a:solidFill>
                        </a:defRPr>
                      </a:pPr>
                      <a:r>
                        <a:t>5.814 ms</a:t>
                      </a:r>
                    </a:p>
                  </a:txBody>
                  <a:tcPr/>
                </a:tc>
                <a:tc>
                  <a:txBody>
                    <a:bodyPr/>
                    <a:lstStyle/>
                    <a:p>
                      <a:pPr>
                        <a:defRPr sz="1200">
                          <a:solidFill>
                            <a:srgbClr val="1E293B"/>
                          </a:solidFill>
                        </a:defRPr>
                      </a:pPr>
                      <a:r>
                        <a:t>3.439,94 TPS</a:t>
                      </a:r>
                    </a:p>
                  </a:txBody>
                  <a:tcPr/>
                </a:tc>
              </a:tr>
            </a:tbl>
          </a:graphicData>
        </a:graphic>
      </p:graphicFrame>
      <p:sp>
        <p:nvSpPr>
          <p:cNvPr id="4" name="TextBox 3"/>
          <p:cNvSpPr txBox="1"/>
          <p:nvPr/>
        </p:nvSpPr>
        <p:spPr>
          <a:xfrm>
            <a:off x="731520" y="4206240"/>
            <a:ext cx="10698480" cy="2011680"/>
          </a:xfrm>
          <a:prstGeom prst="rect">
            <a:avLst/>
          </a:prstGeom>
          <a:noFill/>
        </p:spPr>
        <p:txBody>
          <a:bodyPr wrap="square">
            <a:spAutoFit/>
          </a:bodyPr>
          <a:lstStyle/>
          <a:p>
            <a:pPr>
              <a:defRPr sz="1300">
                <a:solidFill>
                  <a:srgbClr val="1E293B"/>
                </a:solidFill>
              </a:defRPr>
            </a:pPr>
            <a:r>
              <a:t>• Nhận xét kết quả thực nghiệm:</a:t>
            </a:r>
          </a:p>
          <a:p>
            <a:pPr>
              <a:defRPr sz="1300">
                <a:solidFill>
                  <a:srgbClr val="1E293B"/>
                </a:solidFill>
              </a:defRPr>
            </a:pPr>
            <a:r>
              <a:t>   1. Thông lượng cực kỳ ổn định ở mức ~3.440 TPS ngay cả khi số lượng client tăng gấp 4 lần.</a:t>
            </a:r>
          </a:p>
          <a:p>
            <a:pPr>
              <a:defRPr sz="1300">
                <a:solidFill>
                  <a:srgbClr val="1E293B"/>
                </a:solidFill>
              </a:defRPr>
            </a:pPr>
            <a:r>
              <a:t>   2. Độ trễ tăng tuyến tính từ 1.44ms lên 5.81ms, hoàn toàn đáp ứng tiêu chuẩn thời gian thực (&lt; 10ms).</a:t>
            </a:r>
          </a:p>
          <a:p>
            <a:pPr>
              <a:defRPr sz="1300">
                <a:solidFill>
                  <a:srgbClr val="1E293B"/>
                </a:solidFill>
              </a:defRPr>
            </a:pPr>
            <a:r>
              <a:t>   3. Tỷ lệ Deadlock = 0% nhờ quy ước chuẩn hóa thứ tự khóa user_a &lt; user_b trong proc_add_friend.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5 — NHƯ QUỲNH (TV5)</a:t>
            </a:r>
          </a:p>
          <a:p>
            <a:pPr>
              <a:defRPr sz="2200" b="1">
                <a:solidFill>
                  <a:srgbClr val="0F172A"/>
                </a:solidFill>
              </a:defRPr>
            </a:pPr>
            <a:r>
              <a:t>Thiết Kế Vật Lý &amp; Kế Hoạch Đánh Chỉ Mục (Indexing)</a:t>
            </a:r>
          </a:p>
          <a:p>
            <a:pPr>
              <a:defRPr sz="1300">
                <a:solidFill>
                  <a:srgbClr val="64748B"/>
                </a:solidFill>
              </a:defRPr>
            </a:pPr>
            <a:r>
              <a:t>Tối ưu hóa truy vấn cho từng mô hình và đo lường dung lượng đĩa bổ sung</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Chiến lược đánh chỉ mục theo đặc thù từng mô hình (indexes.sql):</a:t>
            </a:r>
          </a:p>
          <a:p>
            <a:pPr>
              <a:defRPr sz="1300">
                <a:solidFill>
                  <a:srgbClr val="1E293B"/>
                </a:solidFill>
              </a:defRPr>
            </a:pPr>
            <a:r>
              <a:t>   - Adjacency List: B-tree trên comment(parent_id) và (post_id, parent_id) =&gt; Tăng tốc độ lọc điểm neo và phép nối CTE.</a:t>
            </a:r>
          </a:p>
          <a:p>
            <a:pPr>
              <a:defRPr sz="1300">
                <a:solidFill>
                  <a:srgbClr val="1E293B"/>
                </a:solidFill>
              </a:defRPr>
            </a:pPr>
            <a:r>
              <a:t>   - Path Enumeration: GiST index trên cột kiểu ltree comment_path(path) =&gt; Quét mẫu tiền tố đường dẫn siêu tốc.</a:t>
            </a:r>
          </a:p>
          <a:p>
            <a:pPr>
              <a:defRPr sz="1300">
                <a:solidFill>
                  <a:srgbClr val="1E293B"/>
                </a:solidFill>
              </a:defRPr>
            </a:pPr>
            <a:r>
              <a:t>   - Nested Set: Composite Index trên comment_ns(post_id, lft, rgt) =&gt; Chuyển Seq Scan sang Index Only Scan khi lọc BETWEEN.</a:t>
            </a:r>
          </a:p>
          <a:p>
            <a:pPr>
              <a:defRPr sz="1300">
                <a:solidFill>
                  <a:srgbClr val="1E293B"/>
                </a:solidFill>
              </a:defRPr>
            </a:pPr>
            <a:r>
              <a:t>   - Closure Table: Hai chỉ mục idx_closure_ancestor_depth và idx_closure_descendant_ancestor.</a:t>
            </a:r>
          </a:p>
          <a:p>
            <a:pPr>
              <a:defRPr sz="1300">
                <a:solidFill>
                  <a:srgbClr val="1E293B"/>
                </a:solidFill>
              </a:defRPr>
            </a:pPr>
          </a:p>
          <a:p>
            <a:pPr>
              <a:defRPr sz="1300">
                <a:solidFill>
                  <a:srgbClr val="1E293B"/>
                </a:solidFill>
              </a:defRPr>
            </a:pPr>
            <a:r>
              <a:t>• Đo lường dung lượng đĩa và chỉ mục qua storage_sizes.sql (pg_relation_size):</a:t>
            </a:r>
          </a:p>
          <a:p>
            <a:pPr>
              <a:defRPr sz="1300">
                <a:solidFill>
                  <a:srgbClr val="1E293B"/>
                </a:solidFill>
              </a:defRPr>
            </a:pPr>
            <a:r>
              <a:t>   - Ở quy mô 100.000 bình luận: Bảng comment chỉ chiếm 100.000 dòng; trong khi comment_closure chiếm 1.067.146 dòng (gấp 10.6 lần) do phải lưu toàn bộ các cặp tổ tiên - hậu duệ.</a:t>
            </a:r>
          </a:p>
          <a:p>
            <a:pPr>
              <a:defRPr sz="1300">
                <a:solidFill>
                  <a:srgbClr val="1E293B"/>
                </a:solidFill>
              </a:defRPr>
            </a:pPr>
            <a:r>
              <a:t>   - Dung lượng chỉ mục của Closure Table lớn nhất; Adjacency List tiêu tốn ít dung lượng đĩa nhất.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5 — NHƯ QUỲNH (TV5)</a:t>
            </a:r>
          </a:p>
          <a:p>
            <a:pPr>
              <a:defRPr sz="2200" b="1">
                <a:solidFill>
                  <a:srgbClr val="0F172A"/>
                </a:solidFill>
              </a:defRPr>
            </a:pPr>
            <a:r>
              <a:t>Kết Quả Đo Đạc Benchmark 4 Mô Hình Cây Phân Cấp</a:t>
            </a:r>
          </a:p>
          <a:p>
            <a:pPr>
              <a:defRPr sz="1300">
                <a:solidFill>
                  <a:srgbClr val="64748B"/>
                </a:solidFill>
              </a:defRPr>
            </a:pPr>
            <a:r>
              <a:t>Tổng hợp 360 phép đo thực nghiệm EXPLAIN (ANALYZE, BUFFERS) trên 1k, 10k, 100k nút</a:t>
            </a:r>
          </a:p>
        </p:txBody>
      </p:sp>
      <p:sp>
        <p:nvSpPr>
          <p:cNvPr id="3" name="TextBox 2"/>
          <p:cNvSpPr txBox="1"/>
          <p:nvPr/>
        </p:nvSpPr>
        <p:spPr>
          <a:xfrm>
            <a:off x="731520" y="1645920"/>
            <a:ext cx="5669280" cy="4572000"/>
          </a:xfrm>
          <a:prstGeom prst="rect">
            <a:avLst/>
          </a:prstGeom>
          <a:noFill/>
        </p:spPr>
        <p:txBody>
          <a:bodyPr wrap="square">
            <a:spAutoFit/>
          </a:bodyPr>
          <a:lstStyle/>
          <a:p>
            <a:pPr>
              <a:defRPr sz="1250">
                <a:solidFill>
                  <a:srgbClr val="1E293B"/>
                </a:solidFill>
              </a:defRPr>
            </a:pPr>
            <a:r>
              <a:t>• Thời gian đọc cây con Q2 (Subtree):</a:t>
            </a:r>
          </a:p>
          <a:p>
            <a:pPr>
              <a:defRPr sz="1250">
                <a:solidFill>
                  <a:srgbClr val="1E293B"/>
                </a:solidFill>
              </a:defRPr>
            </a:pPr>
            <a:r>
              <a:t>   - Khi có chỉ mục: Nested Set (~0.05ms) và Closure Table (~0.04ms) đọc nhanh nhất.</a:t>
            </a:r>
          </a:p>
          <a:p>
            <a:pPr>
              <a:defRPr sz="1250">
                <a:solidFill>
                  <a:srgbClr val="1E293B"/>
                </a:solidFill>
              </a:defRPr>
            </a:pPr>
            <a:r>
              <a:t>   - Path Enumeration (ltree) đạt ~0.15ms nhờ GiST index.</a:t>
            </a:r>
          </a:p>
          <a:p>
            <a:pPr>
              <a:defRPr sz="1250">
                <a:solidFill>
                  <a:srgbClr val="1E293B"/>
                </a:solidFill>
              </a:defRPr>
            </a:pPr>
            <a:r>
              <a:t>   - Adjacency List chậm hơn (~1.2ms – 3.5ms) do chi phí vòng lặp CTE đệ quy tăng theo độ sâu.</a:t>
            </a:r>
          </a:p>
          <a:p>
            <a:pPr>
              <a:defRPr sz="1250">
                <a:solidFill>
                  <a:srgbClr val="1E293B"/>
                </a:solidFill>
              </a:defRPr>
            </a:pPr>
          </a:p>
          <a:p>
            <a:pPr>
              <a:defRPr sz="1250">
                <a:solidFill>
                  <a:srgbClr val="1E293B"/>
                </a:solidFill>
              </a:defRPr>
            </a:pPr>
            <a:r>
              <a:t>• Chi phí ghi (INSERT và MOVE SUBTREE):</a:t>
            </a:r>
          </a:p>
          <a:p>
            <a:pPr>
              <a:defRPr sz="1250">
                <a:solidFill>
                  <a:srgbClr val="1E293B"/>
                </a:solidFill>
              </a:defRPr>
            </a:pPr>
            <a:r>
              <a:t>   - Adjacency List ghi nhanh nhất (chỉ ghi 1 dòng O(1)).</a:t>
            </a:r>
          </a:p>
          <a:p>
            <a:pPr>
              <a:defRPr sz="1250">
                <a:solidFill>
                  <a:srgbClr val="1E293B"/>
                </a:solidFill>
              </a:defRPr>
            </a:pPr>
            <a:r>
              <a:t>   - Nested Set và Closure Table ghi chậm nhất do phải re-index hoặc nhân bản nhiều dòng bao đóng.</a:t>
            </a:r>
          </a:p>
        </p:txBody>
      </p:sp>
      <p:pic>
        <p:nvPicPr>
          <p:cNvPr id="4" name="Picture 3" descr="q2_subtree_10000.png"/>
          <p:cNvPicPr>
            <a:picLocks noChangeAspect="1"/>
          </p:cNvPicPr>
          <p:nvPr/>
        </p:nvPicPr>
        <p:blipFill>
          <a:blip r:embed="rId2"/>
          <a:stretch>
            <a:fillRect/>
          </a:stretch>
        </p:blipFill>
        <p:spPr>
          <a:xfrm>
            <a:off x="6583680" y="1645920"/>
            <a:ext cx="4846320" cy="266547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TỔNG KẾT — CẢ NHÓM</a:t>
            </a:r>
          </a:p>
          <a:p>
            <a:pPr>
              <a:defRPr sz="2200" b="1">
                <a:solidFill>
                  <a:srgbClr val="0F172A"/>
                </a:solidFill>
              </a:defRPr>
            </a:pPr>
            <a:r>
              <a:t>Ma Trận Đánh Đổi (Trade-Off) &amp; Khuyến Nghị Kiến Trúc</a:t>
            </a:r>
          </a:p>
          <a:p>
            <a:pPr>
              <a:defRPr sz="1300">
                <a:solidFill>
                  <a:srgbClr val="64748B"/>
                </a:solidFill>
              </a:defRPr>
            </a:pPr>
            <a:r>
              <a:t>Lựa chọn công nghệ tối ưu dựa trên bài toán thực tế của Mạng xã hội học tập</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Ma trận đánh đổi tổng thể (Trade-off Matrix):</a:t>
            </a:r>
          </a:p>
          <a:p>
            <a:pPr>
              <a:defRPr sz="1300">
                <a:solidFill>
                  <a:srgbClr val="1E293B"/>
                </a:solidFill>
              </a:defRPr>
            </a:pPr>
            <a:r>
              <a:t>   [Tốc độ đọc cây con]:  Closure Table &gt; Nested Set &gt; Path Enumeration (ltree) &gt; Adjacency List</a:t>
            </a:r>
          </a:p>
          <a:p>
            <a:pPr>
              <a:defRPr sz="1300">
                <a:solidFill>
                  <a:srgbClr val="1E293B"/>
                </a:solidFill>
              </a:defRPr>
            </a:pPr>
            <a:r>
              <a:t>   [Tốc độ ghi / cập nhật]: Adjacency List &gt; Path Enumeration &gt; Closure Table &gt; Nested Set</a:t>
            </a:r>
          </a:p>
          <a:p>
            <a:pPr>
              <a:defRPr sz="1300">
                <a:solidFill>
                  <a:srgbClr val="1E293B"/>
                </a:solidFill>
              </a:defRPr>
            </a:pPr>
            <a:r>
              <a:t>   [Dung lượng đĩa tiêu tốn]: Adjacency List (nhẹ nhất) &lt; Path Enumeration &lt; Nested Set &lt; Closure Table (nặng nhất)</a:t>
            </a:r>
          </a:p>
          <a:p>
            <a:pPr>
              <a:defRPr sz="1300">
                <a:solidFill>
                  <a:srgbClr val="1E293B"/>
                </a:solidFill>
              </a:defRPr>
            </a:pPr>
          </a:p>
          <a:p>
            <a:pPr>
              <a:defRPr sz="1300">
                <a:solidFill>
                  <a:srgbClr val="1E293B"/>
                </a:solidFill>
              </a:defRPr>
            </a:pPr>
            <a:r>
              <a:t>• Khuyến nghị kiến trúc cho Mạng xã hội học tập (Tỷ lệ 90% Đọc, 10% Ghi):</a:t>
            </a:r>
          </a:p>
          <a:p>
            <a:pPr>
              <a:defRPr sz="1300">
                <a:solidFill>
                  <a:srgbClr val="1E293B"/>
                </a:solidFill>
              </a:defRPr>
            </a:pPr>
            <a:r>
              <a:t>   1. Hệ thống Bình luận (Threaded Comments): Chọn Path Enumeration (ltree) — Cân bằng hoàn hảo giữa đọc nhanh và ghi nhẹ.</a:t>
            </a:r>
          </a:p>
          <a:p>
            <a:pPr>
              <a:defRPr sz="1300">
                <a:solidFill>
                  <a:srgbClr val="1E293B"/>
                </a:solidFill>
              </a:defRPr>
            </a:pPr>
            <a:r>
              <a:t>   2. Danh mục Thư mục học liệu (Cây tĩnh ít sửa): Chọn Nested Set hoặc Closure Table để tối ưu hóa tốc độ xem tài liệu.</a:t>
            </a:r>
          </a:p>
          <a:p>
            <a:pPr>
              <a:defRPr sz="1300">
                <a:solidFill>
                  <a:srgbClr val="1E293B"/>
                </a:solidFill>
              </a:defRPr>
            </a:pPr>
            <a:r>
              <a:t>   3. Mạng lưới quan hệ bạn bè: Dùng PostgreSQL WITH RECURSIVE cho bài toán bạn của bạn độ sâu k &lt;= 2; tích hợp Neo4j khi cần thuật toán gợi ý tri thức đa tầng.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PHẦN 1 — TRẦN QUANG (LEADER)</a:t>
            </a:r>
          </a:p>
          <a:p>
            <a:pPr>
              <a:defRPr sz="2200" b="1">
                <a:solidFill>
                  <a:srgbClr val="0F172A"/>
                </a:solidFill>
              </a:defRPr>
            </a:pPr>
            <a:r>
              <a:t>Kết Luận, Đóng Góp Của Đồ Án &amp; Hướng Phát Triển</a:t>
            </a:r>
          </a:p>
          <a:p>
            <a:pPr>
              <a:defRPr sz="1300">
                <a:solidFill>
                  <a:srgbClr val="64748B"/>
                </a:solidFill>
              </a:defRPr>
            </a:pPr>
            <a:r>
              <a:t>Đáp ứng toàn diện 100% chuẩn đầu ra môn học và khả năng tái lập kết quả độc lập</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Kết quả đạt được:</a:t>
            </a:r>
          </a:p>
          <a:p>
            <a:pPr>
              <a:defRPr sz="1300">
                <a:solidFill>
                  <a:srgbClr val="1E293B"/>
                </a:solidFill>
              </a:defRPr>
            </a:pPr>
            <a:r>
              <a:t>   1. Xây dựng hoàn chỉnh CSDL Mạng xã hội học tập chuẩn BCNF và 4NF với đầy đủ cơ chế toàn vẹn Trigger/Procedure.</a:t>
            </a:r>
          </a:p>
          <a:p>
            <a:pPr>
              <a:defRPr sz="1300">
                <a:solidFill>
                  <a:srgbClr val="1E293B"/>
                </a:solidFill>
              </a:defRPr>
            </a:pPr>
            <a:r>
              <a:t>   2. Hiện thực và đối chứng thực nghiệm 4 mô hình cây phân cấp trên quy mô 1.000 đến 100.000 nút.</a:t>
            </a:r>
          </a:p>
          <a:p>
            <a:pPr>
              <a:defRPr sz="1300">
                <a:solidFill>
                  <a:srgbClr val="1E293B"/>
                </a:solidFill>
              </a:defRPr>
            </a:pPr>
            <a:r>
              <a:t>   3. Làm rõ ranh giới giữa SQL đệ quy PostgreSQL và Neo4j Cypher.</a:t>
            </a:r>
          </a:p>
          <a:p>
            <a:pPr>
              <a:defRPr sz="1300">
                <a:solidFill>
                  <a:srgbClr val="1E293B"/>
                </a:solidFill>
              </a:defRPr>
            </a:pPr>
            <a:r>
              <a:t>   4. Thực nghiệm thành công bế tắc Deadlock (40P01) và chứng minh hệ thống chịu tải 3.440 TPS qua pgbench.</a:t>
            </a:r>
          </a:p>
          <a:p>
            <a:pPr>
              <a:defRPr sz="1300">
                <a:solidFill>
                  <a:srgbClr val="1E293B"/>
                </a:solidFill>
              </a:defRPr>
            </a:pPr>
            <a:r>
              <a:t>   5. Đầy đủ minh chứng làm việc nhóm (CLO7): 8 biên bản họp tuần, lịch sử commit minh bạch, review chéo chặt chẽ.</a:t>
            </a:r>
          </a:p>
          <a:p>
            <a:pPr>
              <a:defRPr sz="1300">
                <a:solidFill>
                  <a:srgbClr val="1E293B"/>
                </a:solidFill>
              </a:defRPr>
            </a:pPr>
          </a:p>
          <a:p>
            <a:pPr>
              <a:defRPr sz="1300">
                <a:solidFill>
                  <a:srgbClr val="1E293B"/>
                </a:solidFill>
              </a:defRPr>
            </a:pPr>
            <a:r>
              <a:t>• Hướng phát triển tiếp theo:</a:t>
            </a:r>
          </a:p>
          <a:p>
            <a:pPr>
              <a:defRPr sz="1300">
                <a:solidFill>
                  <a:srgbClr val="1E293B"/>
                </a:solidFill>
              </a:defRPr>
            </a:pPr>
            <a:r>
              <a:t>   - Nghiên cứu kiến trúc Đa mô hình lưu trữ (Polyglot Persistence): Kết hợp PostgreSQL (ACID) + Neo4j (Graph Recommender).</a:t>
            </a:r>
          </a:p>
          <a:p>
            <a:pPr>
              <a:defRPr sz="1300">
                <a:solidFill>
                  <a:srgbClr val="1E293B"/>
                </a:solidFill>
              </a:defRPr>
            </a:pPr>
            <a:r>
              <a:t>   - Áp dụng phân vùng bảng (Table Partitioning) cho bảng Closure Table khi dữ liệu vượt ngưỡng 10 triệu bản ghi.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914400"/>
          </a:xfrm>
          <a:prstGeom prst="rect">
            <a:avLst/>
          </a:prstGeom>
          <a:noFill/>
        </p:spPr>
        <p:txBody>
          <a:bodyPr wrap="square" lIns="0" tIns="0" rIns="0" bIns="0">
            <a:spAutoFit/>
          </a:bodyPr>
          <a:lstStyle/>
          <a:p>
            <a:pPr>
              <a:defRPr sz="1100" b="1">
                <a:solidFill>
                  <a:srgbClr val="2563EB"/>
                </a:solidFill>
              </a:defRPr>
            </a:pPr>
            <a:r>
              <a:t>DEMO — TV5 &amp; TV3</a:t>
            </a:r>
          </a:p>
          <a:p>
            <a:pPr>
              <a:defRPr sz="2200" b="1">
                <a:solidFill>
                  <a:srgbClr val="0F172A"/>
                </a:solidFill>
              </a:defRPr>
            </a:pPr>
            <a:r>
              <a:t>Kịch Bản Demo Thực Tế Hệ Thống (5 Phút)</a:t>
            </a:r>
          </a:p>
          <a:p>
            <a:pPr>
              <a:defRPr sz="1300">
                <a:solidFill>
                  <a:srgbClr val="64748B"/>
                </a:solidFill>
              </a:defRPr>
            </a:pPr>
            <a:r>
              <a:t>Quy trình tái lập từ CSDL sạch và kiểm chứng trực tiếp trước Hội đồng</a:t>
            </a:r>
          </a:p>
        </p:txBody>
      </p:sp>
      <p:sp>
        <p:nvSpPr>
          <p:cNvPr id="3" name="TextBox 2"/>
          <p:cNvSpPr txBox="1"/>
          <p:nvPr/>
        </p:nvSpPr>
        <p:spPr>
          <a:xfrm>
            <a:off x="731520" y="1645920"/>
            <a:ext cx="10698480" cy="4572000"/>
          </a:xfrm>
          <a:prstGeom prst="rect">
            <a:avLst/>
          </a:prstGeom>
          <a:noFill/>
        </p:spPr>
        <p:txBody>
          <a:bodyPr wrap="square">
            <a:spAutoFit/>
          </a:bodyPr>
          <a:lstStyle/>
          <a:p>
            <a:pPr>
              <a:defRPr sz="1300">
                <a:solidFill>
                  <a:srgbClr val="1E293B"/>
                </a:solidFill>
              </a:defRPr>
            </a:pPr>
            <a:r>
              <a:t>• Bước 1 (30s): Khởi tạo CSDL sạch từ schema.sql, constraints.sql và seed_test.sql.</a:t>
            </a:r>
          </a:p>
          <a:p>
            <a:pPr>
              <a:defRPr sz="1300">
                <a:solidFill>
                  <a:srgbClr val="1E293B"/>
                </a:solidFill>
              </a:defRPr>
            </a:pPr>
          </a:p>
          <a:p>
            <a:pPr>
              <a:defRPr sz="1300">
                <a:solidFill>
                  <a:srgbClr val="1E293B"/>
                </a:solidFill>
              </a:defRPr>
            </a:pPr>
            <a:r>
              <a:t>• Bước 2 (60s): Demo tính đồng nhất của 4 mô hình cây: Chạy câu Q2 (lấy cây con bình luận 1) trên cả 4 mô hình, chứng minh cùng trả về tập kết quả {1, 2, 3}.</a:t>
            </a:r>
          </a:p>
          <a:p>
            <a:pPr>
              <a:defRPr sz="1300">
                <a:solidFill>
                  <a:srgbClr val="1E293B"/>
                </a:solidFill>
              </a:defRPr>
            </a:pPr>
          </a:p>
          <a:p>
            <a:pPr>
              <a:defRPr sz="1300">
                <a:solidFill>
                  <a:srgbClr val="1E293B"/>
                </a:solidFill>
              </a:defRPr>
            </a:pPr>
            <a:r>
              <a:t>• Bước 3 (60s): Demo SQL đệ quy: Chạy bài toán R2 tìm đường đi ngắn nhất An -&gt; Em ra [1, 3, 5] và đối chiếu với câu lệnh Cypher trên Neo4j Browser.</a:t>
            </a:r>
          </a:p>
          <a:p>
            <a:pPr>
              <a:defRPr sz="1300">
                <a:solidFill>
                  <a:srgbClr val="1E293B"/>
                </a:solidFill>
              </a:defRPr>
            </a:pPr>
          </a:p>
          <a:p>
            <a:pPr>
              <a:defRPr sz="1300">
                <a:solidFill>
                  <a:srgbClr val="1E293B"/>
                </a:solidFill>
              </a:defRPr>
            </a:pPr>
            <a:r>
              <a:t>• Bước 4 (60s): Kích hoạt Deadlock trực tiếp: Mở 2 cửa sổ psql chạy Session A và Session B đối kháng, kích hoạt mã lỗi 40P01 trước màn hình.</a:t>
            </a:r>
          </a:p>
          <a:p>
            <a:pPr>
              <a:defRPr sz="1300">
                <a:solidFill>
                  <a:srgbClr val="1E293B"/>
                </a:solidFill>
              </a:defRPr>
            </a:pPr>
          </a:p>
          <a:p>
            <a:pPr>
              <a:defRPr sz="1300">
                <a:solidFill>
                  <a:srgbClr val="1E293B"/>
                </a:solidFill>
              </a:defRPr>
            </a:pPr>
            <a:r>
              <a:t>• Bước 5 (90s): Trình chiếu bộ công cụ Benchmark tự động: Chạy run_benchmark.py và hiển thị biểu đồ so sánh tự động sinh bằng matplotlib.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18320" cy="3200400"/>
          </a:xfrm>
          <a:prstGeom prst="rect">
            <a:avLst/>
          </a:prstGeom>
          <a:noFill/>
        </p:spPr>
        <p:txBody>
          <a:bodyPr wrap="square">
            <a:spAutoFit/>
          </a:bodyPr>
          <a:lstStyle/>
          <a:p>
            <a:pPr algn="ctr">
              <a:defRPr sz="2800" b="1">
                <a:solidFill>
                  <a:srgbClr val="FFFFFF"/>
                </a:solidFill>
              </a:defRPr>
            </a:pPr>
            <a:r>
              <a:t>XIN CHÂN THÀNH CẢM ƠN QUÝ THẦY CÔ VÀ CÁC BẠN!</a:t>
            </a:r>
          </a:p>
          <a:p>
            <a:br/>
            <a:pPr algn="ctr">
              <a:defRPr sz="1800">
                <a:solidFill>
                  <a:srgbClr val="93C5FD"/>
                </a:solidFill>
              </a:defRPr>
            </a:pPr>
            <a:r>
              <a:t>NHÓM ĐỀ TÀI 17 SẴN SÀNG LẮNG NGHE Ý KIẾN ĐÓNG GÓP VÀ CÂU HỎI PHẢN BIỆN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